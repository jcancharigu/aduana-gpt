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0"/>
            <a:ext cx="11731752" cy="6858000"/>
          </a:xfrm>
          <a:prstGeom prst="rect">
            <a:avLst/>
          </a:prstGeom>
          <a:solidFill>
            <a:srgbClr val="0A1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4864"/>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
            <a:ext cx="1371600" cy="1097280"/>
          </a:xfrm>
          <a:prstGeom prst="rect">
            <a:avLst/>
          </a:prstGeom>
          <a:noFill/>
        </p:spPr>
        <p:txBody>
          <a:bodyPr wrap="square">
            <a:spAutoFit/>
          </a:bodyPr>
          <a:lstStyle/>
          <a:p>
            <a:pPr algn="l"/>
            <a:r>
              <a:rPr sz="7200" b="0" i="0">
                <a:solidFill>
                  <a:srgbClr val="FFFFFF"/>
                </a:solidFill>
              </a:rPr>
              <a:t>🛃</a:t>
            </a:r>
          </a:p>
        </p:txBody>
      </p:sp>
      <p:sp>
        <p:nvSpPr>
          <p:cNvPr id="6" name="TextBox 5"/>
          <p:cNvSpPr txBox="1"/>
          <p:nvPr/>
        </p:nvSpPr>
        <p:spPr>
          <a:xfrm>
            <a:off x="2011680" y="685800"/>
            <a:ext cx="9144000" cy="1005840"/>
          </a:xfrm>
          <a:prstGeom prst="rect">
            <a:avLst/>
          </a:prstGeom>
          <a:noFill/>
        </p:spPr>
        <p:txBody>
          <a:bodyPr wrap="square">
            <a:spAutoFit/>
          </a:bodyPr>
          <a:lstStyle/>
          <a:p>
            <a:pPr algn="l"/>
            <a:r>
              <a:rPr sz="6000" b="1" i="0">
                <a:solidFill>
                  <a:srgbClr val="D4A017"/>
                </a:solidFill>
              </a:rPr>
              <a:t>ADUANA-GPT</a:t>
            </a:r>
          </a:p>
        </p:txBody>
      </p:sp>
      <p:sp>
        <p:nvSpPr>
          <p:cNvPr id="7" name="TextBox 6"/>
          <p:cNvSpPr txBox="1"/>
          <p:nvPr/>
        </p:nvSpPr>
        <p:spPr>
          <a:xfrm>
            <a:off x="2011680" y="1691640"/>
            <a:ext cx="9601200" cy="822960"/>
          </a:xfrm>
          <a:prstGeom prst="rect">
            <a:avLst/>
          </a:prstGeom>
          <a:noFill/>
        </p:spPr>
        <p:txBody>
          <a:bodyPr wrap="square">
            <a:spAutoFit/>
          </a:bodyPr>
          <a:lstStyle/>
          <a:p>
            <a:pPr algn="l"/>
            <a:r>
              <a:rPr sz="2200" b="0" i="0">
                <a:solidFill>
                  <a:srgbClr val="E8EEF8"/>
                </a:solidFill>
              </a:rPr>
              <a:t>Agente de IA con RAG Multidominio para consultas sobre
normativa aduanera peruana</a:t>
            </a:r>
          </a:p>
        </p:txBody>
      </p:sp>
      <p:sp>
        <p:nvSpPr>
          <p:cNvPr id="8" name="Rectangle 7"/>
          <p:cNvSpPr/>
          <p:nvPr/>
        </p:nvSpPr>
        <p:spPr>
          <a:xfrm>
            <a:off x="2011680" y="2606040"/>
            <a:ext cx="8229600" cy="3657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0" y="2743200"/>
            <a:ext cx="1783080" cy="347472"/>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84832" y="2761488"/>
            <a:ext cx="1691640" cy="320040"/>
          </a:xfrm>
          <a:prstGeom prst="rect">
            <a:avLst/>
          </a:prstGeom>
          <a:noFill/>
        </p:spPr>
        <p:txBody>
          <a:bodyPr wrap="square">
            <a:spAutoFit/>
          </a:bodyPr>
          <a:lstStyle/>
          <a:p>
            <a:pPr algn="ctr"/>
            <a:r>
              <a:rPr sz="1300" b="1" i="0">
                <a:solidFill>
                  <a:srgbClr val="D4A017"/>
                </a:solidFill>
              </a:rPr>
              <a:t>LangGraph 1.1.6</a:t>
            </a:r>
          </a:p>
        </p:txBody>
      </p:sp>
      <p:sp>
        <p:nvSpPr>
          <p:cNvPr id="11" name="Rectangle 10"/>
          <p:cNvSpPr/>
          <p:nvPr/>
        </p:nvSpPr>
        <p:spPr>
          <a:xfrm>
            <a:off x="3840480" y="2743200"/>
            <a:ext cx="1783080" cy="347472"/>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13632" y="2761488"/>
            <a:ext cx="1691640" cy="320040"/>
          </a:xfrm>
          <a:prstGeom prst="rect">
            <a:avLst/>
          </a:prstGeom>
          <a:noFill/>
        </p:spPr>
        <p:txBody>
          <a:bodyPr wrap="square">
            <a:spAutoFit/>
          </a:bodyPr>
          <a:lstStyle/>
          <a:p>
            <a:pPr algn="ctr"/>
            <a:r>
              <a:rPr sz="1300" b="1" i="0">
                <a:solidFill>
                  <a:srgbClr val="D4A017"/>
                </a:solidFill>
              </a:rPr>
              <a:t>7 Nodos</a:t>
            </a:r>
          </a:p>
        </p:txBody>
      </p:sp>
      <p:sp>
        <p:nvSpPr>
          <p:cNvPr id="13" name="Rectangle 12"/>
          <p:cNvSpPr/>
          <p:nvPr/>
        </p:nvSpPr>
        <p:spPr>
          <a:xfrm>
            <a:off x="5669280" y="2743200"/>
            <a:ext cx="1783080" cy="347472"/>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42432" y="2761488"/>
            <a:ext cx="1691640" cy="320040"/>
          </a:xfrm>
          <a:prstGeom prst="rect">
            <a:avLst/>
          </a:prstGeom>
          <a:noFill/>
        </p:spPr>
        <p:txBody>
          <a:bodyPr wrap="square">
            <a:spAutoFit/>
          </a:bodyPr>
          <a:lstStyle/>
          <a:p>
            <a:pPr algn="ctr"/>
            <a:r>
              <a:rPr sz="1300" b="1" i="0">
                <a:solidFill>
                  <a:srgbClr val="D4A017"/>
                </a:solidFill>
              </a:rPr>
              <a:t>Llama 3.3 70B</a:t>
            </a:r>
          </a:p>
        </p:txBody>
      </p:sp>
      <p:sp>
        <p:nvSpPr>
          <p:cNvPr id="15" name="Rectangle 14"/>
          <p:cNvSpPr/>
          <p:nvPr/>
        </p:nvSpPr>
        <p:spPr>
          <a:xfrm>
            <a:off x="7498080" y="2743200"/>
            <a:ext cx="1783080" cy="347472"/>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71232" y="2761488"/>
            <a:ext cx="1691640" cy="320040"/>
          </a:xfrm>
          <a:prstGeom prst="rect">
            <a:avLst/>
          </a:prstGeom>
          <a:noFill/>
        </p:spPr>
        <p:txBody>
          <a:bodyPr wrap="square">
            <a:spAutoFit/>
          </a:bodyPr>
          <a:lstStyle/>
          <a:p>
            <a:pPr algn="ctr"/>
            <a:r>
              <a:rPr sz="1300" b="1" i="0">
                <a:solidFill>
                  <a:srgbClr val="D4A017"/>
                </a:solidFill>
              </a:rPr>
              <a:t>3 861 Chunks</a:t>
            </a:r>
          </a:p>
        </p:txBody>
      </p:sp>
      <p:sp>
        <p:nvSpPr>
          <p:cNvPr id="17" name="Rectangle 16"/>
          <p:cNvSpPr/>
          <p:nvPr/>
        </p:nvSpPr>
        <p:spPr>
          <a:xfrm>
            <a:off x="9326880" y="2743200"/>
            <a:ext cx="1783080" cy="347472"/>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00032" y="2761488"/>
            <a:ext cx="1691640" cy="320040"/>
          </a:xfrm>
          <a:prstGeom prst="rect">
            <a:avLst/>
          </a:prstGeom>
          <a:noFill/>
        </p:spPr>
        <p:txBody>
          <a:bodyPr wrap="square">
            <a:spAutoFit/>
          </a:bodyPr>
          <a:lstStyle/>
          <a:p>
            <a:pPr algn="ctr"/>
            <a:r>
              <a:rPr sz="1300" b="1" i="0">
                <a:solidFill>
                  <a:srgbClr val="D4A017"/>
                </a:solidFill>
              </a:rPr>
              <a:t>Streaming</a:t>
            </a:r>
          </a:p>
        </p:txBody>
      </p:sp>
      <p:sp>
        <p:nvSpPr>
          <p:cNvPr id="19" name="Rectangle 18"/>
          <p:cNvSpPr/>
          <p:nvPr/>
        </p:nvSpPr>
        <p:spPr>
          <a:xfrm>
            <a:off x="11155680" y="2743200"/>
            <a:ext cx="1783080" cy="347472"/>
          </a:xfrm>
          <a:prstGeom prst="rect">
            <a:avLst/>
          </a:prstGeom>
          <a:solidFill>
            <a:srgbClr val="1A6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228832" y="2761488"/>
            <a:ext cx="1691640" cy="320040"/>
          </a:xfrm>
          <a:prstGeom prst="rect">
            <a:avLst/>
          </a:prstGeom>
          <a:noFill/>
        </p:spPr>
        <p:txBody>
          <a:bodyPr wrap="square">
            <a:spAutoFit/>
          </a:bodyPr>
          <a:lstStyle/>
          <a:p>
            <a:pPr algn="ctr"/>
            <a:r>
              <a:rPr sz="1300" b="1" i="0">
                <a:solidFill>
                  <a:srgbClr val="D4A017"/>
                </a:solidFill>
              </a:rPr>
              <a:t>Costo: S/. 0.00</a:t>
            </a:r>
          </a:p>
        </p:txBody>
      </p:sp>
      <p:sp>
        <p:nvSpPr>
          <p:cNvPr id="21" name="TextBox 20"/>
          <p:cNvSpPr txBox="1"/>
          <p:nvPr/>
        </p:nvSpPr>
        <p:spPr>
          <a:xfrm>
            <a:off x="2011680" y="3337560"/>
            <a:ext cx="9601200" cy="347472"/>
          </a:xfrm>
          <a:prstGeom prst="rect">
            <a:avLst/>
          </a:prstGeom>
          <a:noFill/>
        </p:spPr>
        <p:txBody>
          <a:bodyPr wrap="square">
            <a:spAutoFit/>
          </a:bodyPr>
          <a:lstStyle/>
          <a:p>
            <a:pPr algn="l"/>
            <a:r>
              <a:rPr sz="1500" b="0" i="0">
                <a:solidFill>
                  <a:srgbClr val="E8EEF8"/>
                </a:solidFill>
              </a:rPr>
              <a:t>Jaime Canchari Gutierrez  ·  SUNAT — División de Control Operativo IAMC</a:t>
            </a:r>
          </a:p>
        </p:txBody>
      </p:sp>
      <p:sp>
        <p:nvSpPr>
          <p:cNvPr id="22" name="TextBox 21"/>
          <p:cNvSpPr txBox="1"/>
          <p:nvPr/>
        </p:nvSpPr>
        <p:spPr>
          <a:xfrm>
            <a:off x="2011680" y="3703320"/>
            <a:ext cx="9601200" cy="347472"/>
          </a:xfrm>
          <a:prstGeom prst="rect">
            <a:avLst/>
          </a:prstGeom>
          <a:noFill/>
        </p:spPr>
        <p:txBody>
          <a:bodyPr wrap="square">
            <a:spAutoFit/>
          </a:bodyPr>
          <a:lstStyle/>
          <a:p>
            <a:pPr algn="l"/>
            <a:r>
              <a:rPr sz="1300" b="0" i="1">
                <a:solidFill>
                  <a:srgbClr val="E8EEF8"/>
                </a:solidFill>
              </a:rPr>
              <a:t>Maestría en Ciencia de Datos  ·  Universidad Nacional de Ingeniería  ·  2026-1</a:t>
            </a:r>
          </a:p>
        </p:txBody>
      </p:sp>
      <p:sp>
        <p:nvSpPr>
          <p:cNvPr id="23" name="Rectangle 22"/>
          <p:cNvSpPr/>
          <p:nvPr/>
        </p:nvSpPr>
        <p:spPr>
          <a:xfrm>
            <a:off x="457200" y="6400800"/>
            <a:ext cx="11731752" cy="45720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11680" y="6446520"/>
            <a:ext cx="8229600" cy="347472"/>
          </a:xfrm>
          <a:prstGeom prst="rect">
            <a:avLst/>
          </a:prstGeom>
          <a:noFill/>
        </p:spPr>
        <p:txBody>
          <a:bodyPr wrap="square">
            <a:spAutoFit/>
          </a:bodyPr>
          <a:lstStyle/>
          <a:p>
            <a:pPr algn="ctr"/>
            <a:r>
              <a:rPr sz="1300" b="0" i="0">
                <a:solidFill>
                  <a:srgbClr val="D4A017"/>
                </a:solidFill>
              </a:rPr>
              <a:t>Stack 100% gratuito y open 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El Problema</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¿Por qué es difícil consultar normativa aduanera peruana?</a:t>
            </a:r>
          </a:p>
        </p:txBody>
      </p:sp>
      <p:sp>
        <p:nvSpPr>
          <p:cNvPr id="5" name="Rectangle 4"/>
          <p:cNvSpPr/>
          <p:nvPr/>
        </p:nvSpPr>
        <p:spPr>
          <a:xfrm>
            <a:off x="365760" y="1554480"/>
            <a:ext cx="5303520" cy="2011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91640"/>
            <a:ext cx="640080" cy="594360"/>
          </a:xfrm>
          <a:prstGeom prst="rect">
            <a:avLst/>
          </a:prstGeom>
          <a:noFill/>
        </p:spPr>
        <p:txBody>
          <a:bodyPr wrap="square">
            <a:spAutoFit/>
          </a:bodyPr>
          <a:lstStyle/>
          <a:p>
            <a:pPr algn="l"/>
            <a:r>
              <a:rPr sz="3200" b="0" i="0">
                <a:solidFill>
                  <a:srgbClr val="FFFFFF"/>
                </a:solidFill>
              </a:rPr>
              <a:t>📚</a:t>
            </a:r>
          </a:p>
        </p:txBody>
      </p:sp>
      <p:sp>
        <p:nvSpPr>
          <p:cNvPr id="7" name="TextBox 6"/>
          <p:cNvSpPr txBox="1"/>
          <p:nvPr/>
        </p:nvSpPr>
        <p:spPr>
          <a:xfrm>
            <a:off x="1143000" y="1755648"/>
            <a:ext cx="4389120" cy="384048"/>
          </a:xfrm>
          <a:prstGeom prst="rect">
            <a:avLst/>
          </a:prstGeom>
          <a:noFill/>
        </p:spPr>
        <p:txBody>
          <a:bodyPr wrap="square">
            <a:spAutoFit/>
          </a:bodyPr>
          <a:lstStyle/>
          <a:p>
            <a:pPr algn="l"/>
            <a:r>
              <a:rPr sz="1800" b="1" i="0">
                <a:solidFill>
                  <a:srgbClr val="D4A017"/>
                </a:solidFill>
              </a:rPr>
              <a:t>Volumen normativo masivo</a:t>
            </a:r>
          </a:p>
        </p:txBody>
      </p:sp>
      <p:sp>
        <p:nvSpPr>
          <p:cNvPr id="8" name="TextBox 7"/>
          <p:cNvSpPr txBox="1"/>
          <p:nvPr/>
        </p:nvSpPr>
        <p:spPr>
          <a:xfrm>
            <a:off x="502920" y="2212848"/>
            <a:ext cx="5029200" cy="1234440"/>
          </a:xfrm>
          <a:prstGeom prst="rect">
            <a:avLst/>
          </a:prstGeom>
          <a:noFill/>
        </p:spPr>
        <p:txBody>
          <a:bodyPr wrap="square">
            <a:spAutoFit/>
          </a:bodyPr>
          <a:lstStyle/>
          <a:p>
            <a:pPr algn="l"/>
            <a:r>
              <a:rPr sz="1500" b="0" i="0">
                <a:solidFill>
                  <a:srgbClr val="E8EEF8"/>
                </a:solidFill>
              </a:rPr>
              <a:t>148 documentos: leyes, reglamentos, procedimientos y aranceles vigentes</a:t>
            </a:r>
          </a:p>
        </p:txBody>
      </p:sp>
      <p:sp>
        <p:nvSpPr>
          <p:cNvPr id="9" name="Rectangle 8"/>
          <p:cNvSpPr/>
          <p:nvPr/>
        </p:nvSpPr>
        <p:spPr>
          <a:xfrm>
            <a:off x="6217920" y="1554480"/>
            <a:ext cx="5303520" cy="2011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91640"/>
            <a:ext cx="640080" cy="594360"/>
          </a:xfrm>
          <a:prstGeom prst="rect">
            <a:avLst/>
          </a:prstGeom>
          <a:noFill/>
        </p:spPr>
        <p:txBody>
          <a:bodyPr wrap="square">
            <a:spAutoFit/>
          </a:bodyPr>
          <a:lstStyle/>
          <a:p>
            <a:pPr algn="l"/>
            <a:r>
              <a:rPr sz="3200" b="0" i="0">
                <a:solidFill>
                  <a:srgbClr val="FFFFFF"/>
                </a:solidFill>
              </a:rPr>
              <a:t>🔍</a:t>
            </a:r>
          </a:p>
        </p:txBody>
      </p:sp>
      <p:sp>
        <p:nvSpPr>
          <p:cNvPr id="11" name="TextBox 10"/>
          <p:cNvSpPr txBox="1"/>
          <p:nvPr/>
        </p:nvSpPr>
        <p:spPr>
          <a:xfrm>
            <a:off x="6995160" y="1755648"/>
            <a:ext cx="4389120" cy="384048"/>
          </a:xfrm>
          <a:prstGeom prst="rect">
            <a:avLst/>
          </a:prstGeom>
          <a:noFill/>
        </p:spPr>
        <p:txBody>
          <a:bodyPr wrap="square">
            <a:spAutoFit/>
          </a:bodyPr>
          <a:lstStyle/>
          <a:p>
            <a:pPr algn="l"/>
            <a:r>
              <a:rPr sz="1800" b="1" i="0">
                <a:solidFill>
                  <a:srgbClr val="D4A017"/>
                </a:solidFill>
              </a:rPr>
              <a:t>Fragmentación de la información</a:t>
            </a:r>
          </a:p>
        </p:txBody>
      </p:sp>
      <p:sp>
        <p:nvSpPr>
          <p:cNvPr id="12" name="TextBox 11"/>
          <p:cNvSpPr txBox="1"/>
          <p:nvPr/>
        </p:nvSpPr>
        <p:spPr>
          <a:xfrm>
            <a:off x="6355080" y="2212848"/>
            <a:ext cx="5029200" cy="1234440"/>
          </a:xfrm>
          <a:prstGeom prst="rect">
            <a:avLst/>
          </a:prstGeom>
          <a:noFill/>
        </p:spPr>
        <p:txBody>
          <a:bodyPr wrap="square">
            <a:spAutoFit/>
          </a:bodyPr>
          <a:lstStyle/>
          <a:p>
            <a:pPr algn="l"/>
            <a:r>
              <a:rPr sz="1500" b="0" i="0">
                <a:solidFill>
                  <a:srgbClr val="E8EEF8"/>
                </a:solidFill>
              </a:rPr>
              <a:t>Normas dispersas en distintos portales SUNAT, sin búsqueda semántica</a:t>
            </a:r>
          </a:p>
        </p:txBody>
      </p:sp>
      <p:sp>
        <p:nvSpPr>
          <p:cNvPr id="13" name="Rectangle 12"/>
          <p:cNvSpPr/>
          <p:nvPr/>
        </p:nvSpPr>
        <p:spPr>
          <a:xfrm>
            <a:off x="365760" y="3931920"/>
            <a:ext cx="5303520" cy="2011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069080"/>
            <a:ext cx="640080" cy="594360"/>
          </a:xfrm>
          <a:prstGeom prst="rect">
            <a:avLst/>
          </a:prstGeom>
          <a:noFill/>
        </p:spPr>
        <p:txBody>
          <a:bodyPr wrap="square">
            <a:spAutoFit/>
          </a:bodyPr>
          <a:lstStyle/>
          <a:p>
            <a:pPr algn="l"/>
            <a:r>
              <a:rPr sz="3200" b="0" i="0">
                <a:solidFill>
                  <a:srgbClr val="FFFFFF"/>
                </a:solidFill>
              </a:rPr>
              <a:t>⏱️</a:t>
            </a:r>
          </a:p>
        </p:txBody>
      </p:sp>
      <p:sp>
        <p:nvSpPr>
          <p:cNvPr id="15" name="TextBox 14"/>
          <p:cNvSpPr txBox="1"/>
          <p:nvPr/>
        </p:nvSpPr>
        <p:spPr>
          <a:xfrm>
            <a:off x="1143000" y="4133088"/>
            <a:ext cx="4389120" cy="384048"/>
          </a:xfrm>
          <a:prstGeom prst="rect">
            <a:avLst/>
          </a:prstGeom>
          <a:noFill/>
        </p:spPr>
        <p:txBody>
          <a:bodyPr wrap="square">
            <a:spAutoFit/>
          </a:bodyPr>
          <a:lstStyle/>
          <a:p>
            <a:pPr algn="l"/>
            <a:r>
              <a:rPr sz="1800" b="1" i="0">
                <a:solidFill>
                  <a:srgbClr val="D4A017"/>
                </a:solidFill>
              </a:rPr>
              <a:t>Respuestas lentas y costosas</a:t>
            </a:r>
          </a:p>
        </p:txBody>
      </p:sp>
      <p:sp>
        <p:nvSpPr>
          <p:cNvPr id="16" name="TextBox 15"/>
          <p:cNvSpPr txBox="1"/>
          <p:nvPr/>
        </p:nvSpPr>
        <p:spPr>
          <a:xfrm>
            <a:off x="502920" y="4590288"/>
            <a:ext cx="5029200" cy="1234440"/>
          </a:xfrm>
          <a:prstGeom prst="rect">
            <a:avLst/>
          </a:prstGeom>
          <a:noFill/>
        </p:spPr>
        <p:txBody>
          <a:bodyPr wrap="square">
            <a:spAutoFit/>
          </a:bodyPr>
          <a:lstStyle/>
          <a:p>
            <a:pPr algn="l"/>
            <a:r>
              <a:rPr sz="1500" b="0" i="0">
                <a:solidFill>
                  <a:srgbClr val="E8EEF8"/>
                </a:solidFill>
              </a:rPr>
              <a:t>Consultas a especialistas toman horas; asesoría jurídica tiene alto costo</a:t>
            </a:r>
          </a:p>
        </p:txBody>
      </p:sp>
      <p:sp>
        <p:nvSpPr>
          <p:cNvPr id="17" name="Rectangle 16"/>
          <p:cNvSpPr/>
          <p:nvPr/>
        </p:nvSpPr>
        <p:spPr>
          <a:xfrm>
            <a:off x="6217920" y="3931920"/>
            <a:ext cx="5303520" cy="2011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4069080"/>
            <a:ext cx="640080" cy="594360"/>
          </a:xfrm>
          <a:prstGeom prst="rect">
            <a:avLst/>
          </a:prstGeom>
          <a:noFill/>
        </p:spPr>
        <p:txBody>
          <a:bodyPr wrap="square">
            <a:spAutoFit/>
          </a:bodyPr>
          <a:lstStyle/>
          <a:p>
            <a:pPr algn="l"/>
            <a:r>
              <a:rPr sz="3200" b="0" i="0">
                <a:solidFill>
                  <a:srgbClr val="FFFFFF"/>
                </a:solidFill>
              </a:rPr>
              <a:t>🌐</a:t>
            </a:r>
          </a:p>
        </p:txBody>
      </p:sp>
      <p:sp>
        <p:nvSpPr>
          <p:cNvPr id="19" name="TextBox 18"/>
          <p:cNvSpPr txBox="1"/>
          <p:nvPr/>
        </p:nvSpPr>
        <p:spPr>
          <a:xfrm>
            <a:off x="6995160" y="4133088"/>
            <a:ext cx="4389120" cy="384048"/>
          </a:xfrm>
          <a:prstGeom prst="rect">
            <a:avLst/>
          </a:prstGeom>
          <a:noFill/>
        </p:spPr>
        <p:txBody>
          <a:bodyPr wrap="square">
            <a:spAutoFit/>
          </a:bodyPr>
          <a:lstStyle/>
          <a:p>
            <a:pPr algn="l"/>
            <a:r>
              <a:rPr sz="1800" b="1" i="0">
                <a:solidFill>
                  <a:srgbClr val="D4A017"/>
                </a:solidFill>
              </a:rPr>
              <a:t>Lenguaje técnico especializado</a:t>
            </a:r>
          </a:p>
        </p:txBody>
      </p:sp>
      <p:sp>
        <p:nvSpPr>
          <p:cNvPr id="20" name="TextBox 19"/>
          <p:cNvSpPr txBox="1"/>
          <p:nvPr/>
        </p:nvSpPr>
        <p:spPr>
          <a:xfrm>
            <a:off x="6355080" y="4590288"/>
            <a:ext cx="5029200" cy="1234440"/>
          </a:xfrm>
          <a:prstGeom prst="rect">
            <a:avLst/>
          </a:prstGeom>
          <a:noFill/>
        </p:spPr>
        <p:txBody>
          <a:bodyPr wrap="square">
            <a:spAutoFit/>
          </a:bodyPr>
          <a:lstStyle/>
          <a:p>
            <a:pPr algn="l"/>
            <a:r>
              <a:rPr sz="1500" b="0" i="0">
                <a:solidFill>
                  <a:srgbClr val="E8EEF8"/>
                </a:solidFill>
              </a:rPr>
              <a:t>Ciudadanos y operadores no comprenden el lenguaje legal aduanero</a:t>
            </a:r>
          </a:p>
        </p:txBody>
      </p:sp>
      <p:sp>
        <p:nvSpPr>
          <p:cNvPr id="21" name="Rectangle 20"/>
          <p:cNvSpPr/>
          <p:nvPr/>
        </p:nvSpPr>
        <p:spPr>
          <a:xfrm>
            <a:off x="5394960" y="3108960"/>
            <a:ext cx="1280160"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60" y="3200400"/>
            <a:ext cx="1280160" cy="347472"/>
          </a:xfrm>
          <a:prstGeom prst="rect">
            <a:avLst/>
          </a:prstGeom>
          <a:noFill/>
        </p:spPr>
        <p:txBody>
          <a:bodyPr wrap="square">
            <a:spAutoFit/>
          </a:bodyPr>
          <a:lstStyle/>
          <a:p>
            <a:pPr algn="ctr"/>
            <a:r>
              <a:rPr sz="1300" b="1" i="0">
                <a:solidFill>
                  <a:srgbClr val="D4A017"/>
                </a:solidFill>
              </a:rPr>
              <a:t>→ ADUANA-GPT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La Solución: ADUANA-GPT</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Agente RAG multidominio con respuestas en lenguaje natural y cita exacta de artículos</a:t>
            </a:r>
          </a:p>
        </p:txBody>
      </p:sp>
      <p:sp>
        <p:nvSpPr>
          <p:cNvPr id="5" name="Rectangle 4"/>
          <p:cNvSpPr/>
          <p:nvPr/>
        </p:nvSpPr>
        <p:spPr>
          <a:xfrm>
            <a:off x="365760" y="1508760"/>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81912"/>
            <a:ext cx="5120640" cy="365760"/>
          </a:xfrm>
          <a:prstGeom prst="rect">
            <a:avLst/>
          </a:prstGeom>
          <a:noFill/>
        </p:spPr>
        <p:txBody>
          <a:bodyPr wrap="square">
            <a:spAutoFit/>
          </a:bodyPr>
          <a:lstStyle/>
          <a:p>
            <a:pPr algn="l"/>
            <a:r>
              <a:rPr sz="1600" b="1" i="0">
                <a:solidFill>
                  <a:srgbClr val="D4A017"/>
                </a:solidFill>
              </a:rPr>
              <a:t>🔴 Streaming token a token</a:t>
            </a:r>
          </a:p>
        </p:txBody>
      </p:sp>
      <p:sp>
        <p:nvSpPr>
          <p:cNvPr id="7" name="TextBox 6"/>
          <p:cNvSpPr txBox="1"/>
          <p:nvPr/>
        </p:nvSpPr>
        <p:spPr>
          <a:xfrm>
            <a:off x="502920" y="1965960"/>
            <a:ext cx="5120640" cy="475488"/>
          </a:xfrm>
          <a:prstGeom prst="rect">
            <a:avLst/>
          </a:prstGeom>
          <a:noFill/>
        </p:spPr>
        <p:txBody>
          <a:bodyPr wrap="square">
            <a:spAutoFit/>
          </a:bodyPr>
          <a:lstStyle/>
          <a:p>
            <a:pPr algn="l"/>
            <a:r>
              <a:rPr sz="1400" b="0" i="0">
                <a:solidFill>
                  <a:srgbClr val="E8EEF8"/>
                </a:solidFill>
              </a:rPr>
              <a:t>Respuesta visible en ~0.5 s en lugar de 5–10 s</a:t>
            </a:r>
          </a:p>
        </p:txBody>
      </p:sp>
      <p:sp>
        <p:nvSpPr>
          <p:cNvPr id="8" name="Rectangle 7"/>
          <p:cNvSpPr/>
          <p:nvPr/>
        </p:nvSpPr>
        <p:spPr>
          <a:xfrm>
            <a:off x="365760" y="2715768"/>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788920"/>
            <a:ext cx="5120640" cy="365760"/>
          </a:xfrm>
          <a:prstGeom prst="rect">
            <a:avLst/>
          </a:prstGeom>
          <a:noFill/>
        </p:spPr>
        <p:txBody>
          <a:bodyPr wrap="square">
            <a:spAutoFit/>
          </a:bodyPr>
          <a:lstStyle/>
          <a:p>
            <a:pPr algn="l"/>
            <a:r>
              <a:rPr sz="1600" b="1" i="0">
                <a:solidFill>
                  <a:srgbClr val="D4A017"/>
                </a:solidFill>
              </a:rPr>
              <a:t>🧠 Memoria conversacional</a:t>
            </a:r>
          </a:p>
        </p:txBody>
      </p:sp>
      <p:sp>
        <p:nvSpPr>
          <p:cNvPr id="10" name="TextBox 9"/>
          <p:cNvSpPr txBox="1"/>
          <p:nvPr/>
        </p:nvSpPr>
        <p:spPr>
          <a:xfrm>
            <a:off x="502920" y="3172968"/>
            <a:ext cx="5120640" cy="475488"/>
          </a:xfrm>
          <a:prstGeom prst="rect">
            <a:avLst/>
          </a:prstGeom>
          <a:noFill/>
        </p:spPr>
        <p:txBody>
          <a:bodyPr wrap="square">
            <a:spAutoFit/>
          </a:bodyPr>
          <a:lstStyle/>
          <a:p>
            <a:pPr algn="l"/>
            <a:r>
              <a:rPr sz="1400" b="0" i="0">
                <a:solidFill>
                  <a:srgbClr val="E8EEF8"/>
                </a:solidFill>
              </a:rPr>
              <a:t>Historial de 5 turnos preservado por sesión (MemorySaver)</a:t>
            </a:r>
          </a:p>
        </p:txBody>
      </p:sp>
      <p:sp>
        <p:nvSpPr>
          <p:cNvPr id="11" name="Rectangle 10"/>
          <p:cNvSpPr/>
          <p:nvPr/>
        </p:nvSpPr>
        <p:spPr>
          <a:xfrm>
            <a:off x="365760" y="3922776"/>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995928"/>
            <a:ext cx="5120640" cy="365760"/>
          </a:xfrm>
          <a:prstGeom prst="rect">
            <a:avLst/>
          </a:prstGeom>
          <a:noFill/>
        </p:spPr>
        <p:txBody>
          <a:bodyPr wrap="square">
            <a:spAutoFit/>
          </a:bodyPr>
          <a:lstStyle/>
          <a:p>
            <a:pPr algn="l"/>
            <a:r>
              <a:rPr sz="1600" b="1" i="0">
                <a:solidFill>
                  <a:srgbClr val="D4A017"/>
                </a:solidFill>
              </a:rPr>
              <a:t>🔍 RAG paralelo por dominio</a:t>
            </a:r>
          </a:p>
        </p:txBody>
      </p:sp>
      <p:sp>
        <p:nvSpPr>
          <p:cNvPr id="13" name="TextBox 12"/>
          <p:cNvSpPr txBox="1"/>
          <p:nvPr/>
        </p:nvSpPr>
        <p:spPr>
          <a:xfrm>
            <a:off x="502920" y="4379976"/>
            <a:ext cx="5120640" cy="475488"/>
          </a:xfrm>
          <a:prstGeom prst="rect">
            <a:avLst/>
          </a:prstGeom>
          <a:noFill/>
        </p:spPr>
        <p:txBody>
          <a:bodyPr wrap="square">
            <a:spAutoFit/>
          </a:bodyPr>
          <a:lstStyle/>
          <a:p>
            <a:pPr algn="l"/>
            <a:r>
              <a:rPr sz="1400" b="0" i="0">
                <a:solidFill>
                  <a:srgbClr val="E8EEF8"/>
                </a:solidFill>
              </a:rPr>
              <a:t>ThreadPoolExecutor lanza búsquedas simultáneas</a:t>
            </a:r>
          </a:p>
        </p:txBody>
      </p:sp>
      <p:sp>
        <p:nvSpPr>
          <p:cNvPr id="14" name="Rectangle 13"/>
          <p:cNvSpPr/>
          <p:nvPr/>
        </p:nvSpPr>
        <p:spPr>
          <a:xfrm>
            <a:off x="365760" y="5129784"/>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5202936"/>
            <a:ext cx="5120640" cy="365760"/>
          </a:xfrm>
          <a:prstGeom prst="rect">
            <a:avLst/>
          </a:prstGeom>
          <a:noFill/>
        </p:spPr>
        <p:txBody>
          <a:bodyPr wrap="square">
            <a:spAutoFit/>
          </a:bodyPr>
          <a:lstStyle/>
          <a:p>
            <a:pPr algn="l"/>
            <a:r>
              <a:rPr sz="1600" b="1" i="0">
                <a:solidFill>
                  <a:srgbClr val="D4A017"/>
                </a:solidFill>
              </a:rPr>
              <a:t>🔁 Fallback automático LLM</a:t>
            </a:r>
          </a:p>
        </p:txBody>
      </p:sp>
      <p:sp>
        <p:nvSpPr>
          <p:cNvPr id="16" name="TextBox 15"/>
          <p:cNvSpPr txBox="1"/>
          <p:nvPr/>
        </p:nvSpPr>
        <p:spPr>
          <a:xfrm>
            <a:off x="502920" y="5586984"/>
            <a:ext cx="5120640" cy="475488"/>
          </a:xfrm>
          <a:prstGeom prst="rect">
            <a:avLst/>
          </a:prstGeom>
          <a:noFill/>
        </p:spPr>
        <p:txBody>
          <a:bodyPr wrap="square">
            <a:spAutoFit/>
          </a:bodyPr>
          <a:lstStyle/>
          <a:p>
            <a:pPr algn="l"/>
            <a:r>
              <a:rPr sz="1400" b="0" i="0">
                <a:solidFill>
                  <a:srgbClr val="E8EEF8"/>
                </a:solidFill>
              </a:rPr>
              <a:t>70B → 8B → Gemini si se agota el límite diario</a:t>
            </a:r>
          </a:p>
        </p:txBody>
      </p:sp>
      <p:sp>
        <p:nvSpPr>
          <p:cNvPr id="17" name="Rectangle 16"/>
          <p:cNvSpPr/>
          <p:nvPr/>
        </p:nvSpPr>
        <p:spPr>
          <a:xfrm>
            <a:off x="6309360" y="1508760"/>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581912"/>
            <a:ext cx="5120640" cy="365760"/>
          </a:xfrm>
          <a:prstGeom prst="rect">
            <a:avLst/>
          </a:prstGeom>
          <a:noFill/>
        </p:spPr>
        <p:txBody>
          <a:bodyPr wrap="square">
            <a:spAutoFit/>
          </a:bodyPr>
          <a:lstStyle/>
          <a:p>
            <a:pPr algn="l"/>
            <a:r>
              <a:rPr sz="1600" b="1" i="0">
                <a:solidFill>
                  <a:srgbClr val="D4A017"/>
                </a:solidFill>
              </a:rPr>
              <a:t>⚡ Caché SQLite</a:t>
            </a:r>
          </a:p>
        </p:txBody>
      </p:sp>
      <p:sp>
        <p:nvSpPr>
          <p:cNvPr id="19" name="TextBox 18"/>
          <p:cNvSpPr txBox="1"/>
          <p:nvPr/>
        </p:nvSpPr>
        <p:spPr>
          <a:xfrm>
            <a:off x="6446520" y="1965960"/>
            <a:ext cx="5120640" cy="475488"/>
          </a:xfrm>
          <a:prstGeom prst="rect">
            <a:avLst/>
          </a:prstGeom>
          <a:noFill/>
        </p:spPr>
        <p:txBody>
          <a:bodyPr wrap="square">
            <a:spAutoFit/>
          </a:bodyPr>
          <a:lstStyle/>
          <a:p>
            <a:pPr algn="l"/>
            <a:r>
              <a:rPr sz="1400" b="0" i="0">
                <a:solidFill>
                  <a:srgbClr val="E8EEF8"/>
                </a:solidFill>
              </a:rPr>
              <a:t>Consultas idénticas &lt; 0.5 s sin consumir tokens</a:t>
            </a:r>
          </a:p>
        </p:txBody>
      </p:sp>
      <p:sp>
        <p:nvSpPr>
          <p:cNvPr id="20" name="Rectangle 19"/>
          <p:cNvSpPr/>
          <p:nvPr/>
        </p:nvSpPr>
        <p:spPr>
          <a:xfrm>
            <a:off x="6309360" y="2715768"/>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788920"/>
            <a:ext cx="5120640" cy="365760"/>
          </a:xfrm>
          <a:prstGeom prst="rect">
            <a:avLst/>
          </a:prstGeom>
          <a:noFill/>
        </p:spPr>
        <p:txBody>
          <a:bodyPr wrap="square">
            <a:spAutoFit/>
          </a:bodyPr>
          <a:lstStyle/>
          <a:p>
            <a:pPr algn="l"/>
            <a:r>
              <a:rPr sz="1600" b="1" i="0">
                <a:solidFill>
                  <a:srgbClr val="D4A017"/>
                </a:solidFill>
              </a:rPr>
              <a:t>📊 Observabilidad completa</a:t>
            </a:r>
          </a:p>
        </p:txBody>
      </p:sp>
      <p:sp>
        <p:nvSpPr>
          <p:cNvPr id="22" name="TextBox 21"/>
          <p:cNvSpPr txBox="1"/>
          <p:nvPr/>
        </p:nvSpPr>
        <p:spPr>
          <a:xfrm>
            <a:off x="6446520" y="3172968"/>
            <a:ext cx="5120640" cy="475488"/>
          </a:xfrm>
          <a:prstGeom prst="rect">
            <a:avLst/>
          </a:prstGeom>
          <a:noFill/>
        </p:spPr>
        <p:txBody>
          <a:bodyPr wrap="square">
            <a:spAutoFit/>
          </a:bodyPr>
          <a:lstStyle/>
          <a:p>
            <a:pPr algn="l"/>
            <a:r>
              <a:rPr sz="1400" b="0" i="0">
                <a:solidFill>
                  <a:srgbClr val="E8EEF8"/>
                </a:solidFill>
              </a:rPr>
              <a:t>Trazas, latencia y scores en Langfuse Cloud</a:t>
            </a:r>
          </a:p>
        </p:txBody>
      </p:sp>
      <p:sp>
        <p:nvSpPr>
          <p:cNvPr id="23" name="Rectangle 22"/>
          <p:cNvSpPr/>
          <p:nvPr/>
        </p:nvSpPr>
        <p:spPr>
          <a:xfrm>
            <a:off x="6309360" y="3922776"/>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995928"/>
            <a:ext cx="5120640" cy="365760"/>
          </a:xfrm>
          <a:prstGeom prst="rect">
            <a:avLst/>
          </a:prstGeom>
          <a:noFill/>
        </p:spPr>
        <p:txBody>
          <a:bodyPr wrap="square">
            <a:spAutoFit/>
          </a:bodyPr>
          <a:lstStyle/>
          <a:p>
            <a:pPr algn="l"/>
            <a:r>
              <a:rPr sz="1600" b="1" i="0">
                <a:solidFill>
                  <a:srgbClr val="D4A017"/>
                </a:solidFill>
              </a:rPr>
              <a:t>✅ Evaluación RAGAS</a:t>
            </a:r>
          </a:p>
        </p:txBody>
      </p:sp>
      <p:sp>
        <p:nvSpPr>
          <p:cNvPr id="25" name="TextBox 24"/>
          <p:cNvSpPr txBox="1"/>
          <p:nvPr/>
        </p:nvSpPr>
        <p:spPr>
          <a:xfrm>
            <a:off x="6446520" y="4379976"/>
            <a:ext cx="5120640" cy="475488"/>
          </a:xfrm>
          <a:prstGeom prst="rect">
            <a:avLst/>
          </a:prstGeom>
          <a:noFill/>
        </p:spPr>
        <p:txBody>
          <a:bodyPr wrap="square">
            <a:spAutoFit/>
          </a:bodyPr>
          <a:lstStyle/>
          <a:p>
            <a:pPr algn="l"/>
            <a:r>
              <a:rPr sz="1400" b="0" i="0">
                <a:solidFill>
                  <a:srgbClr val="E8EEF8"/>
                </a:solidFill>
              </a:rPr>
              <a:t>Métricas automáticas + evaluación manual experta (20 casos)</a:t>
            </a:r>
          </a:p>
        </p:txBody>
      </p:sp>
      <p:sp>
        <p:nvSpPr>
          <p:cNvPr id="26" name="Rectangle 25"/>
          <p:cNvSpPr/>
          <p:nvPr/>
        </p:nvSpPr>
        <p:spPr>
          <a:xfrm>
            <a:off x="6309360" y="5129784"/>
            <a:ext cx="539496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5202936"/>
            <a:ext cx="5120640" cy="365760"/>
          </a:xfrm>
          <a:prstGeom prst="rect">
            <a:avLst/>
          </a:prstGeom>
          <a:noFill/>
        </p:spPr>
        <p:txBody>
          <a:bodyPr wrap="square">
            <a:spAutoFit/>
          </a:bodyPr>
          <a:lstStyle/>
          <a:p>
            <a:pPr algn="l"/>
            <a:r>
              <a:rPr sz="1600" b="1" i="0">
                <a:solidFill>
                  <a:srgbClr val="D4A017"/>
                </a:solidFill>
              </a:rPr>
              <a:t>💰 Costo total: S/. 0.00</a:t>
            </a:r>
          </a:p>
        </p:txBody>
      </p:sp>
      <p:sp>
        <p:nvSpPr>
          <p:cNvPr id="28" name="TextBox 27"/>
          <p:cNvSpPr txBox="1"/>
          <p:nvPr/>
        </p:nvSpPr>
        <p:spPr>
          <a:xfrm>
            <a:off x="6446520" y="5586984"/>
            <a:ext cx="5120640" cy="475488"/>
          </a:xfrm>
          <a:prstGeom prst="rect">
            <a:avLst/>
          </a:prstGeom>
          <a:noFill/>
        </p:spPr>
        <p:txBody>
          <a:bodyPr wrap="square">
            <a:spAutoFit/>
          </a:bodyPr>
          <a:lstStyle/>
          <a:p>
            <a:pPr algn="l"/>
            <a:r>
              <a:rPr sz="1400" b="0" i="0">
                <a:solidFill>
                  <a:srgbClr val="E8EEF8"/>
                </a:solidFill>
              </a:rPr>
              <a:t>Stack 100% gratuito — sin tarjeta de crédito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Arquitectura LangGraph</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Grafo de 7 nodos con aristas condicionales y paralelismo RAG por dominio</a:t>
            </a:r>
          </a:p>
        </p:txBody>
      </p:sp>
      <p:sp>
        <p:nvSpPr>
          <p:cNvPr id="5" name="Rectangle 4"/>
          <p:cNvSpPr/>
          <p:nvPr/>
        </p:nvSpPr>
        <p:spPr>
          <a:xfrm>
            <a:off x="4754880" y="1463040"/>
            <a:ext cx="2651760" cy="64008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0" y="1481328"/>
            <a:ext cx="2651760" cy="594360"/>
          </a:xfrm>
          <a:prstGeom prst="rect">
            <a:avLst/>
          </a:prstGeom>
          <a:noFill/>
        </p:spPr>
        <p:txBody>
          <a:bodyPr wrap="square">
            <a:spAutoFit/>
          </a:bodyPr>
          <a:lstStyle/>
          <a:p>
            <a:pPr algn="ctr"/>
            <a:r>
              <a:rPr sz="1500" b="1" i="0">
                <a:solidFill>
                  <a:srgbClr val="0A1A3E"/>
                </a:solidFill>
              </a:rPr>
              <a:t>Nodo 1 — CLASIFICADOR</a:t>
            </a:r>
          </a:p>
        </p:txBody>
      </p:sp>
      <p:sp>
        <p:nvSpPr>
          <p:cNvPr id="7" name="Rectangle 6"/>
          <p:cNvSpPr/>
          <p:nvPr/>
        </p:nvSpPr>
        <p:spPr>
          <a:xfrm>
            <a:off x="274320" y="2560320"/>
            <a:ext cx="201168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578608"/>
            <a:ext cx="1828800" cy="960120"/>
          </a:xfrm>
          <a:prstGeom prst="rect">
            <a:avLst/>
          </a:prstGeom>
          <a:noFill/>
        </p:spPr>
        <p:txBody>
          <a:bodyPr wrap="square">
            <a:spAutoFit/>
          </a:bodyPr>
          <a:lstStyle/>
          <a:p>
            <a:pPr algn="ctr"/>
            <a:r>
              <a:rPr sz="1300" b="1" i="0">
                <a:solidFill>
                  <a:srgbClr val="1ABC9C"/>
                </a:solidFill>
              </a:rPr>
              <a:t>2A
DELITOS
2 RAGs</a:t>
            </a:r>
          </a:p>
        </p:txBody>
      </p:sp>
      <p:sp>
        <p:nvSpPr>
          <p:cNvPr id="9" name="Rectangle 8"/>
          <p:cNvSpPr/>
          <p:nvPr/>
        </p:nvSpPr>
        <p:spPr>
          <a:xfrm>
            <a:off x="2606040" y="2560320"/>
            <a:ext cx="201168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2578608"/>
            <a:ext cx="1828800" cy="960120"/>
          </a:xfrm>
          <a:prstGeom prst="rect">
            <a:avLst/>
          </a:prstGeom>
          <a:noFill/>
        </p:spPr>
        <p:txBody>
          <a:bodyPr wrap="square">
            <a:spAutoFit/>
          </a:bodyPr>
          <a:lstStyle/>
          <a:p>
            <a:pPr algn="ctr"/>
            <a:r>
              <a:rPr sz="1300" b="1" i="0">
                <a:solidFill>
                  <a:srgbClr val="1ABC9C"/>
                </a:solidFill>
              </a:rPr>
              <a:t>2B
CONTROL
2 RAGs</a:t>
            </a:r>
          </a:p>
        </p:txBody>
      </p:sp>
      <p:sp>
        <p:nvSpPr>
          <p:cNvPr id="11" name="Rectangle 10"/>
          <p:cNvSpPr/>
          <p:nvPr/>
        </p:nvSpPr>
        <p:spPr>
          <a:xfrm>
            <a:off x="4754880" y="2560320"/>
            <a:ext cx="201168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2578608"/>
            <a:ext cx="1828800" cy="960120"/>
          </a:xfrm>
          <a:prstGeom prst="rect">
            <a:avLst/>
          </a:prstGeom>
          <a:noFill/>
        </p:spPr>
        <p:txBody>
          <a:bodyPr wrap="square">
            <a:spAutoFit/>
          </a:bodyPr>
          <a:lstStyle/>
          <a:p>
            <a:pPr algn="ctr"/>
            <a:r>
              <a:rPr sz="1300" b="1" i="0">
                <a:solidFill>
                  <a:srgbClr val="1ABC9C"/>
                </a:solidFill>
              </a:rPr>
              <a:t>2C
DESPACHO
3 RAGs</a:t>
            </a:r>
          </a:p>
        </p:txBody>
      </p:sp>
      <p:sp>
        <p:nvSpPr>
          <p:cNvPr id="13" name="Rectangle 12"/>
          <p:cNvSpPr/>
          <p:nvPr/>
        </p:nvSpPr>
        <p:spPr>
          <a:xfrm>
            <a:off x="6949440" y="2560320"/>
            <a:ext cx="201168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2578608"/>
            <a:ext cx="1828800" cy="960120"/>
          </a:xfrm>
          <a:prstGeom prst="rect">
            <a:avLst/>
          </a:prstGeom>
          <a:noFill/>
        </p:spPr>
        <p:txBody>
          <a:bodyPr wrap="square">
            <a:spAutoFit/>
          </a:bodyPr>
          <a:lstStyle/>
          <a:p>
            <a:pPr algn="ctr"/>
            <a:r>
              <a:rPr sz="1300" b="1" i="0">
                <a:solidFill>
                  <a:srgbClr val="1ABC9C"/>
                </a:solidFill>
              </a:rPr>
              <a:t>2D
RECAUD.
3 RAGs</a:t>
            </a:r>
          </a:p>
        </p:txBody>
      </p:sp>
      <p:sp>
        <p:nvSpPr>
          <p:cNvPr id="15" name="Rectangle 14"/>
          <p:cNvSpPr/>
          <p:nvPr/>
        </p:nvSpPr>
        <p:spPr>
          <a:xfrm>
            <a:off x="9235440" y="2560320"/>
            <a:ext cx="2011680" cy="100584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578608"/>
            <a:ext cx="1828800" cy="960120"/>
          </a:xfrm>
          <a:prstGeom prst="rect">
            <a:avLst/>
          </a:prstGeom>
          <a:noFill/>
        </p:spPr>
        <p:txBody>
          <a:bodyPr wrap="square">
            <a:spAutoFit/>
          </a:bodyPr>
          <a:lstStyle/>
          <a:p>
            <a:pPr algn="ctr"/>
            <a:r>
              <a:rPr sz="1300" b="1" i="0">
                <a:solidFill>
                  <a:srgbClr val="1ABC9C"/>
                </a:solidFill>
              </a:rPr>
              <a:t>2E
ORIENT.
3 RAGs</a:t>
            </a:r>
          </a:p>
        </p:txBody>
      </p:sp>
      <p:sp>
        <p:nvSpPr>
          <p:cNvPr id="17" name="Rectangle 16"/>
          <p:cNvSpPr/>
          <p:nvPr/>
        </p:nvSpPr>
        <p:spPr>
          <a:xfrm>
            <a:off x="4114800" y="4023360"/>
            <a:ext cx="3931920" cy="6400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0" y="4041648"/>
            <a:ext cx="3931920" cy="594360"/>
          </a:xfrm>
          <a:prstGeom prst="rect">
            <a:avLst/>
          </a:prstGeom>
          <a:noFill/>
        </p:spPr>
        <p:txBody>
          <a:bodyPr wrap="square">
            <a:spAutoFit/>
          </a:bodyPr>
          <a:lstStyle/>
          <a:p>
            <a:pPr algn="ctr"/>
            <a:r>
              <a:rPr sz="1400" b="1" i="0">
                <a:solidFill>
                  <a:srgbClr val="FFFFFF"/>
                </a:solidFill>
              </a:rPr>
              <a:t>Nodo 3 — SÍNTESIS  (Llama 3.3 70B · streaming)</a:t>
            </a:r>
          </a:p>
        </p:txBody>
      </p:sp>
      <p:sp>
        <p:nvSpPr>
          <p:cNvPr id="19" name="Rectangle 18"/>
          <p:cNvSpPr/>
          <p:nvPr/>
        </p:nvSpPr>
        <p:spPr>
          <a:xfrm>
            <a:off x="5029200" y="4937760"/>
            <a:ext cx="2103120" cy="502920"/>
          </a:xfrm>
          <a:prstGeom prst="rect">
            <a:avLst/>
          </a:prstGeom>
          <a:solidFill>
            <a:srgbClr val="1A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4956048"/>
            <a:ext cx="2103120" cy="457200"/>
          </a:xfrm>
          <a:prstGeom prst="rect">
            <a:avLst/>
          </a:prstGeom>
          <a:noFill/>
        </p:spPr>
        <p:txBody>
          <a:bodyPr wrap="square">
            <a:spAutoFit/>
          </a:bodyPr>
          <a:lstStyle/>
          <a:p>
            <a:pPr algn="ctr"/>
            <a:r>
              <a:rPr sz="1300" b="0" i="0">
                <a:solidFill>
                  <a:srgbClr val="2ECC71"/>
                </a:solidFill>
              </a:rPr>
              <a:t>Langfuse Cloud  →  trazas</a:t>
            </a:r>
          </a:p>
        </p:txBody>
      </p:sp>
      <p:sp>
        <p:nvSpPr>
          <p:cNvPr id="21" name="Rectangle 20"/>
          <p:cNvSpPr/>
          <p:nvPr/>
        </p:nvSpPr>
        <p:spPr>
          <a:xfrm>
            <a:off x="1280160" y="2103120"/>
            <a:ext cx="36576" cy="457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11880" y="2103120"/>
            <a:ext cx="36576" cy="457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6440" y="2103120"/>
            <a:ext cx="36576" cy="457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2103120"/>
            <a:ext cx="36576" cy="457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241280" y="2103120"/>
            <a:ext cx="36576" cy="457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5623560"/>
            <a:ext cx="11612880" cy="502920"/>
          </a:xfrm>
          <a:prstGeom prst="rect">
            <a:avLst/>
          </a:prstGeom>
          <a:solidFill>
            <a:srgbClr val="18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5650992"/>
            <a:ext cx="11430000" cy="457200"/>
          </a:xfrm>
          <a:prstGeom prst="rect">
            <a:avLst/>
          </a:prstGeom>
          <a:noFill/>
        </p:spPr>
        <p:txBody>
          <a:bodyPr wrap="square">
            <a:spAutoFit/>
          </a:bodyPr>
          <a:lstStyle/>
          <a:p>
            <a:pPr algn="ctr"/>
            <a:r>
              <a:rPr sz="1200" b="0" i="0">
                <a:solidFill>
                  <a:srgbClr val="D4A017"/>
                </a:solidFill>
              </a:rPr>
              <a:t>Cadena fallback LLM:  llama-3.3-70b-versatile (100K/día)  →  llama-3.1-8b-instant (500K/día)  →  gemini-2.0-flash (1M/día)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Los 5 Dominios Aduaneros</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Cada dominio activa herramientas RAG especializadas sobre colecciones Qdrant distintas</a:t>
            </a:r>
          </a:p>
        </p:txBody>
      </p:sp>
      <p:sp>
        <p:nvSpPr>
          <p:cNvPr id="5" name="Rectangle 4"/>
          <p:cNvSpPr/>
          <p:nvPr/>
        </p:nvSpPr>
        <p:spPr>
          <a:xfrm>
            <a:off x="274320" y="1463040"/>
            <a:ext cx="2286000" cy="768096"/>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1664208"/>
            <a:ext cx="2194560" cy="384048"/>
          </a:xfrm>
          <a:prstGeom prst="rect">
            <a:avLst/>
          </a:prstGeom>
          <a:noFill/>
        </p:spPr>
        <p:txBody>
          <a:bodyPr wrap="square">
            <a:spAutoFit/>
          </a:bodyPr>
          <a:lstStyle/>
          <a:p>
            <a:pPr algn="ctr"/>
            <a:r>
              <a:rPr sz="1600" b="1" i="0">
                <a:solidFill>
                  <a:srgbClr val="0A1A3E"/>
                </a:solidFill>
              </a:rPr>
              <a:t>Delitos (2A)</a:t>
            </a:r>
          </a:p>
        </p:txBody>
      </p:sp>
      <p:sp>
        <p:nvSpPr>
          <p:cNvPr id="7" name="Rectangle 6"/>
          <p:cNvSpPr/>
          <p:nvPr/>
        </p:nvSpPr>
        <p:spPr>
          <a:xfrm>
            <a:off x="2651760" y="1463040"/>
            <a:ext cx="41148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1554480"/>
            <a:ext cx="3931920" cy="640080"/>
          </a:xfrm>
          <a:prstGeom prst="rect">
            <a:avLst/>
          </a:prstGeom>
          <a:noFill/>
        </p:spPr>
        <p:txBody>
          <a:bodyPr wrap="square">
            <a:spAutoFit/>
          </a:bodyPr>
          <a:lstStyle/>
          <a:p>
            <a:pPr algn="l"/>
            <a:r>
              <a:rPr sz="1300" b="0" i="0">
                <a:solidFill>
                  <a:srgbClr val="E8EEF8"/>
                </a:solidFill>
              </a:rPr>
              <a:t>Ley 28008 · Reglamento DS 121-2003-EF</a:t>
            </a:r>
          </a:p>
        </p:txBody>
      </p:sp>
      <p:sp>
        <p:nvSpPr>
          <p:cNvPr id="9" name="Rectangle 8"/>
          <p:cNvSpPr/>
          <p:nvPr/>
        </p:nvSpPr>
        <p:spPr>
          <a:xfrm>
            <a:off x="6858000" y="1463040"/>
            <a:ext cx="50292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1554480"/>
            <a:ext cx="4846320" cy="640080"/>
          </a:xfrm>
          <a:prstGeom prst="rect">
            <a:avLst/>
          </a:prstGeom>
          <a:noFill/>
        </p:spPr>
        <p:txBody>
          <a:bodyPr wrap="square">
            <a:spAutoFit/>
          </a:bodyPr>
          <a:lstStyle/>
          <a:p>
            <a:pPr algn="l"/>
            <a:r>
              <a:rPr sz="1200" b="0" i="0">
                <a:solidFill>
                  <a:srgbClr val="1ABC9C"/>
                </a:solidFill>
              </a:rPr>
              <a:t>buscar_ley_28008 · buscar_sanciones_multas</a:t>
            </a:r>
          </a:p>
        </p:txBody>
      </p:sp>
      <p:sp>
        <p:nvSpPr>
          <p:cNvPr id="11" name="Rectangle 10"/>
          <p:cNvSpPr/>
          <p:nvPr/>
        </p:nvSpPr>
        <p:spPr>
          <a:xfrm>
            <a:off x="274320" y="2286000"/>
            <a:ext cx="2286000" cy="768096"/>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487168"/>
            <a:ext cx="2194560" cy="384048"/>
          </a:xfrm>
          <a:prstGeom prst="rect">
            <a:avLst/>
          </a:prstGeom>
          <a:noFill/>
        </p:spPr>
        <p:txBody>
          <a:bodyPr wrap="square">
            <a:spAutoFit/>
          </a:bodyPr>
          <a:lstStyle/>
          <a:p>
            <a:pPr algn="ctr"/>
            <a:r>
              <a:rPr sz="1600" b="1" i="0">
                <a:solidFill>
                  <a:srgbClr val="0A1A3E"/>
                </a:solidFill>
              </a:rPr>
              <a:t>Control (2B)</a:t>
            </a:r>
          </a:p>
        </p:txBody>
      </p:sp>
      <p:sp>
        <p:nvSpPr>
          <p:cNvPr id="13" name="Rectangle 12"/>
          <p:cNvSpPr/>
          <p:nvPr/>
        </p:nvSpPr>
        <p:spPr>
          <a:xfrm>
            <a:off x="2651760" y="2286000"/>
            <a:ext cx="41148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2377440"/>
            <a:ext cx="3931920" cy="640080"/>
          </a:xfrm>
          <a:prstGeom prst="rect">
            <a:avLst/>
          </a:prstGeom>
          <a:noFill/>
        </p:spPr>
        <p:txBody>
          <a:bodyPr wrap="square">
            <a:spAutoFit/>
          </a:bodyPr>
          <a:lstStyle/>
          <a:p>
            <a:pPr algn="l"/>
            <a:r>
              <a:rPr sz="1300" b="0" i="0">
                <a:solidFill>
                  <a:srgbClr val="E8EEF8"/>
                </a:solidFill>
              </a:rPr>
              <a:t>Ley General de Aduanas · Proc. fiscalización</a:t>
            </a:r>
          </a:p>
        </p:txBody>
      </p:sp>
      <p:sp>
        <p:nvSpPr>
          <p:cNvPr id="15" name="Rectangle 14"/>
          <p:cNvSpPr/>
          <p:nvPr/>
        </p:nvSpPr>
        <p:spPr>
          <a:xfrm>
            <a:off x="6858000" y="2286000"/>
            <a:ext cx="50292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2377440"/>
            <a:ext cx="4846320" cy="640080"/>
          </a:xfrm>
          <a:prstGeom prst="rect">
            <a:avLst/>
          </a:prstGeom>
          <a:noFill/>
        </p:spPr>
        <p:txBody>
          <a:bodyPr wrap="square">
            <a:spAutoFit/>
          </a:bodyPr>
          <a:lstStyle/>
          <a:p>
            <a:pPr algn="l"/>
            <a:r>
              <a:rPr sz="1200" b="0" i="0">
                <a:solidFill>
                  <a:srgbClr val="1ABC9C"/>
                </a:solidFill>
              </a:rPr>
              <a:t>buscar_procedimientos_fiscalizacion · buscar_ley_general_aduanas</a:t>
            </a:r>
          </a:p>
        </p:txBody>
      </p:sp>
      <p:sp>
        <p:nvSpPr>
          <p:cNvPr id="17" name="Rectangle 16"/>
          <p:cNvSpPr/>
          <p:nvPr/>
        </p:nvSpPr>
        <p:spPr>
          <a:xfrm>
            <a:off x="274320" y="3108960"/>
            <a:ext cx="2286000" cy="76809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3310128"/>
            <a:ext cx="2194560" cy="384048"/>
          </a:xfrm>
          <a:prstGeom prst="rect">
            <a:avLst/>
          </a:prstGeom>
          <a:noFill/>
        </p:spPr>
        <p:txBody>
          <a:bodyPr wrap="square">
            <a:spAutoFit/>
          </a:bodyPr>
          <a:lstStyle/>
          <a:p>
            <a:pPr algn="ctr"/>
            <a:r>
              <a:rPr sz="1600" b="1" i="0">
                <a:solidFill>
                  <a:srgbClr val="0A1A3E"/>
                </a:solidFill>
              </a:rPr>
              <a:t>Despacho (2C)</a:t>
            </a:r>
          </a:p>
        </p:txBody>
      </p:sp>
      <p:sp>
        <p:nvSpPr>
          <p:cNvPr id="19" name="Rectangle 18"/>
          <p:cNvSpPr/>
          <p:nvPr/>
        </p:nvSpPr>
        <p:spPr>
          <a:xfrm>
            <a:off x="2651760" y="3108960"/>
            <a:ext cx="41148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0" y="3200400"/>
            <a:ext cx="3931920" cy="640080"/>
          </a:xfrm>
          <a:prstGeom prst="rect">
            <a:avLst/>
          </a:prstGeom>
          <a:noFill/>
        </p:spPr>
        <p:txBody>
          <a:bodyPr wrap="square">
            <a:spAutoFit/>
          </a:bodyPr>
          <a:lstStyle/>
          <a:p>
            <a:pPr algn="l"/>
            <a:r>
              <a:rPr sz="1300" b="0" i="0">
                <a:solidFill>
                  <a:srgbClr val="E8EEF8"/>
                </a:solidFill>
              </a:rPr>
              <a:t>Proc. despacho · Arancel 2022 · Prohibidas</a:t>
            </a:r>
          </a:p>
        </p:txBody>
      </p:sp>
      <p:sp>
        <p:nvSpPr>
          <p:cNvPr id="21" name="Rectangle 20"/>
          <p:cNvSpPr/>
          <p:nvPr/>
        </p:nvSpPr>
        <p:spPr>
          <a:xfrm>
            <a:off x="6858000" y="3108960"/>
            <a:ext cx="50292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0" y="3200400"/>
            <a:ext cx="4846320" cy="640080"/>
          </a:xfrm>
          <a:prstGeom prst="rect">
            <a:avLst/>
          </a:prstGeom>
          <a:noFill/>
        </p:spPr>
        <p:txBody>
          <a:bodyPr wrap="square">
            <a:spAutoFit/>
          </a:bodyPr>
          <a:lstStyle/>
          <a:p>
            <a:pPr algn="l"/>
            <a:r>
              <a:rPr sz="1200" b="0" i="0">
                <a:solidFill>
                  <a:srgbClr val="1ABC9C"/>
                </a:solidFill>
              </a:rPr>
              <a:t>buscar_procedimientos_despacho · buscar_arancel · buscar_mercancias_prohibidas</a:t>
            </a:r>
          </a:p>
        </p:txBody>
      </p:sp>
      <p:sp>
        <p:nvSpPr>
          <p:cNvPr id="23" name="Rectangle 22"/>
          <p:cNvSpPr/>
          <p:nvPr/>
        </p:nvSpPr>
        <p:spPr>
          <a:xfrm>
            <a:off x="274320" y="3931920"/>
            <a:ext cx="2286000" cy="76809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4133088"/>
            <a:ext cx="2194560" cy="384048"/>
          </a:xfrm>
          <a:prstGeom prst="rect">
            <a:avLst/>
          </a:prstGeom>
          <a:noFill/>
        </p:spPr>
        <p:txBody>
          <a:bodyPr wrap="square">
            <a:spAutoFit/>
          </a:bodyPr>
          <a:lstStyle/>
          <a:p>
            <a:pPr algn="ctr"/>
            <a:r>
              <a:rPr sz="1600" b="1" i="0">
                <a:solidFill>
                  <a:srgbClr val="0A1A3E"/>
                </a:solidFill>
              </a:rPr>
              <a:t>Recaudación (2D)</a:t>
            </a:r>
          </a:p>
        </p:txBody>
      </p:sp>
      <p:sp>
        <p:nvSpPr>
          <p:cNvPr id="25" name="Rectangle 24"/>
          <p:cNvSpPr/>
          <p:nvPr/>
        </p:nvSpPr>
        <p:spPr>
          <a:xfrm>
            <a:off x="2651760" y="3931920"/>
            <a:ext cx="41148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4023360"/>
            <a:ext cx="3931920" cy="640080"/>
          </a:xfrm>
          <a:prstGeom prst="rect">
            <a:avLst/>
          </a:prstGeom>
          <a:noFill/>
        </p:spPr>
        <p:txBody>
          <a:bodyPr wrap="square">
            <a:spAutoFit/>
          </a:bodyPr>
          <a:lstStyle/>
          <a:p>
            <a:pPr algn="l"/>
            <a:r>
              <a:rPr sz="1300" b="0" i="0">
                <a:solidFill>
                  <a:srgbClr val="E8EEF8"/>
                </a:solidFill>
              </a:rPr>
              <a:t>Proc. recaudación · Sanciones · Ley Gral.</a:t>
            </a:r>
          </a:p>
        </p:txBody>
      </p:sp>
      <p:sp>
        <p:nvSpPr>
          <p:cNvPr id="27" name="Rectangle 26"/>
          <p:cNvSpPr/>
          <p:nvPr/>
        </p:nvSpPr>
        <p:spPr>
          <a:xfrm>
            <a:off x="6858000" y="3931920"/>
            <a:ext cx="50292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0" y="4023360"/>
            <a:ext cx="4846320" cy="640080"/>
          </a:xfrm>
          <a:prstGeom prst="rect">
            <a:avLst/>
          </a:prstGeom>
          <a:noFill/>
        </p:spPr>
        <p:txBody>
          <a:bodyPr wrap="square">
            <a:spAutoFit/>
          </a:bodyPr>
          <a:lstStyle/>
          <a:p>
            <a:pPr algn="l"/>
            <a:r>
              <a:rPr sz="1200" b="0" i="0">
                <a:solidFill>
                  <a:srgbClr val="1ABC9C"/>
                </a:solidFill>
              </a:rPr>
              <a:t>buscar_procedimientos_recaudacion · buscar_sanciones_multas · buscar_ley_general_aduanas</a:t>
            </a:r>
          </a:p>
        </p:txBody>
      </p:sp>
      <p:sp>
        <p:nvSpPr>
          <p:cNvPr id="29" name="Rectangle 28"/>
          <p:cNvSpPr/>
          <p:nvPr/>
        </p:nvSpPr>
        <p:spPr>
          <a:xfrm>
            <a:off x="274320" y="4754880"/>
            <a:ext cx="2286000" cy="768096"/>
          </a:xfrm>
          <a:prstGeom prst="rect">
            <a:avLst/>
          </a:prstGeom>
          <a:solidFill>
            <a:srgbClr val="AB47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4956048"/>
            <a:ext cx="2194560" cy="384048"/>
          </a:xfrm>
          <a:prstGeom prst="rect">
            <a:avLst/>
          </a:prstGeom>
          <a:noFill/>
        </p:spPr>
        <p:txBody>
          <a:bodyPr wrap="square">
            <a:spAutoFit/>
          </a:bodyPr>
          <a:lstStyle/>
          <a:p>
            <a:pPr algn="ctr"/>
            <a:r>
              <a:rPr sz="1600" b="1" i="0">
                <a:solidFill>
                  <a:srgbClr val="0A1A3E"/>
                </a:solidFill>
              </a:rPr>
              <a:t>Orientación (2E)</a:t>
            </a:r>
          </a:p>
        </p:txBody>
      </p:sp>
      <p:sp>
        <p:nvSpPr>
          <p:cNvPr id="31" name="Rectangle 30"/>
          <p:cNvSpPr/>
          <p:nvPr/>
        </p:nvSpPr>
        <p:spPr>
          <a:xfrm>
            <a:off x="2651760" y="4754880"/>
            <a:ext cx="41148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0" y="4846320"/>
            <a:ext cx="3931920" cy="640080"/>
          </a:xfrm>
          <a:prstGeom prst="rect">
            <a:avLst/>
          </a:prstGeom>
          <a:noFill/>
        </p:spPr>
        <p:txBody>
          <a:bodyPr wrap="square">
            <a:spAutoFit/>
          </a:bodyPr>
          <a:lstStyle/>
          <a:p>
            <a:pPr algn="l"/>
            <a:r>
              <a:rPr sz="1300" b="0" i="0">
                <a:solidFill>
                  <a:srgbClr val="E8EEF8"/>
                </a:solidFill>
              </a:rPr>
              <a:t>Equipaje viajeros · Normas asociadas/generales</a:t>
            </a:r>
          </a:p>
        </p:txBody>
      </p:sp>
      <p:sp>
        <p:nvSpPr>
          <p:cNvPr id="33" name="Rectangle 32"/>
          <p:cNvSpPr/>
          <p:nvPr/>
        </p:nvSpPr>
        <p:spPr>
          <a:xfrm>
            <a:off x="6858000" y="4754880"/>
            <a:ext cx="5029200" cy="768096"/>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4846320"/>
            <a:ext cx="4846320" cy="640080"/>
          </a:xfrm>
          <a:prstGeom prst="rect">
            <a:avLst/>
          </a:prstGeom>
          <a:noFill/>
        </p:spPr>
        <p:txBody>
          <a:bodyPr wrap="square">
            <a:spAutoFit/>
          </a:bodyPr>
          <a:lstStyle/>
          <a:p>
            <a:pPr algn="l"/>
            <a:r>
              <a:rPr sz="1200" b="0" i="0">
                <a:solidFill>
                  <a:srgbClr val="1ABC9C"/>
                </a:solidFill>
              </a:rPr>
              <a:t>buscar_equipaje_viajeros · buscar_normas_asociadas · buscar_normas_generales</a:t>
            </a:r>
          </a:p>
        </p:txBody>
      </p:sp>
      <p:sp>
        <p:nvSpPr>
          <p:cNvPr id="35" name="TextBox 34"/>
          <p:cNvSpPr txBox="1"/>
          <p:nvPr/>
        </p:nvSpPr>
        <p:spPr>
          <a:xfrm>
            <a:off x="274320" y="1143000"/>
            <a:ext cx="2286000" cy="320040"/>
          </a:xfrm>
          <a:prstGeom prst="rect">
            <a:avLst/>
          </a:prstGeom>
          <a:noFill/>
        </p:spPr>
        <p:txBody>
          <a:bodyPr wrap="square">
            <a:spAutoFit/>
          </a:bodyPr>
          <a:lstStyle/>
          <a:p>
            <a:pPr algn="l"/>
            <a:r>
              <a:rPr sz="1300" b="1" i="0">
                <a:solidFill>
                  <a:srgbClr val="D4A017"/>
                </a:solidFill>
              </a:rPr>
              <a:t>Dominio / Nodo</a:t>
            </a:r>
          </a:p>
        </p:txBody>
      </p:sp>
      <p:sp>
        <p:nvSpPr>
          <p:cNvPr id="36" name="TextBox 35"/>
          <p:cNvSpPr txBox="1"/>
          <p:nvPr/>
        </p:nvSpPr>
        <p:spPr>
          <a:xfrm>
            <a:off x="2651760" y="1143000"/>
            <a:ext cx="4114800" cy="320040"/>
          </a:xfrm>
          <a:prstGeom prst="rect">
            <a:avLst/>
          </a:prstGeom>
          <a:noFill/>
        </p:spPr>
        <p:txBody>
          <a:bodyPr wrap="square">
            <a:spAutoFit/>
          </a:bodyPr>
          <a:lstStyle/>
          <a:p>
            <a:pPr algn="l"/>
            <a:r>
              <a:rPr sz="1300" b="1" i="0">
                <a:solidFill>
                  <a:srgbClr val="D4A017"/>
                </a:solidFill>
              </a:rPr>
              <a:t>Documentos cubiertos</a:t>
            </a:r>
          </a:p>
        </p:txBody>
      </p:sp>
      <p:sp>
        <p:nvSpPr>
          <p:cNvPr id="37" name="TextBox 36"/>
          <p:cNvSpPr txBox="1"/>
          <p:nvPr/>
        </p:nvSpPr>
        <p:spPr>
          <a:xfrm>
            <a:off x="6858000" y="1143000"/>
            <a:ext cx="5029200" cy="320040"/>
          </a:xfrm>
          <a:prstGeom prst="rect">
            <a:avLst/>
          </a:prstGeom>
          <a:noFill/>
        </p:spPr>
        <p:txBody>
          <a:bodyPr wrap="square">
            <a:spAutoFit/>
          </a:bodyPr>
          <a:lstStyle/>
          <a:p>
            <a:pPr algn="l"/>
            <a:r>
              <a:rPr sz="1300" b="1" i="0">
                <a:solidFill>
                  <a:srgbClr val="D4A017"/>
                </a:solidFill>
              </a:rPr>
              <a:t>Herramientas RAG activadas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Stack Tecnológico</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100% gratuito y open source — sin tarjeta de crédito</a:t>
            </a:r>
          </a:p>
        </p:txBody>
      </p:sp>
      <p:sp>
        <p:nvSpPr>
          <p:cNvPr id="5" name="Rectangle 4"/>
          <p:cNvSpPr/>
          <p:nvPr/>
        </p:nvSpPr>
        <p:spPr>
          <a:xfrm>
            <a:off x="274320" y="150876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563624"/>
            <a:ext cx="1828800" cy="320040"/>
          </a:xfrm>
          <a:prstGeom prst="rect">
            <a:avLst/>
          </a:prstGeom>
          <a:noFill/>
        </p:spPr>
        <p:txBody>
          <a:bodyPr wrap="square">
            <a:spAutoFit/>
          </a:bodyPr>
          <a:lstStyle/>
          <a:p>
            <a:pPr algn="l"/>
            <a:r>
              <a:rPr sz="1200" b="1" i="0">
                <a:solidFill>
                  <a:srgbClr val="D4A017"/>
                </a:solidFill>
              </a:rPr>
              <a:t>LLM principal</a:t>
            </a:r>
          </a:p>
        </p:txBody>
      </p:sp>
      <p:sp>
        <p:nvSpPr>
          <p:cNvPr id="7" name="TextBox 6"/>
          <p:cNvSpPr txBox="1"/>
          <p:nvPr/>
        </p:nvSpPr>
        <p:spPr>
          <a:xfrm>
            <a:off x="384048" y="1874520"/>
            <a:ext cx="5303520" cy="274320"/>
          </a:xfrm>
          <a:prstGeom prst="rect">
            <a:avLst/>
          </a:prstGeom>
          <a:noFill/>
        </p:spPr>
        <p:txBody>
          <a:bodyPr wrap="square">
            <a:spAutoFit/>
          </a:bodyPr>
          <a:lstStyle/>
          <a:p>
            <a:pPr algn="l"/>
            <a:r>
              <a:rPr sz="1400" b="1" i="0">
                <a:solidFill>
                  <a:srgbClr val="D4A017"/>
                </a:solidFill>
              </a:rPr>
              <a:t>Llama 3.3 70B · Groq API</a:t>
            </a:r>
          </a:p>
        </p:txBody>
      </p:sp>
      <p:sp>
        <p:nvSpPr>
          <p:cNvPr id="8" name="TextBox 7"/>
          <p:cNvSpPr txBox="1"/>
          <p:nvPr/>
        </p:nvSpPr>
        <p:spPr>
          <a:xfrm>
            <a:off x="384048" y="2130552"/>
            <a:ext cx="5303520" cy="228600"/>
          </a:xfrm>
          <a:prstGeom prst="rect">
            <a:avLst/>
          </a:prstGeom>
          <a:noFill/>
        </p:spPr>
        <p:txBody>
          <a:bodyPr wrap="square">
            <a:spAutoFit/>
          </a:bodyPr>
          <a:lstStyle/>
          <a:p>
            <a:pPr algn="l"/>
            <a:r>
              <a:rPr sz="1200" b="0" i="0">
                <a:solidFill>
                  <a:srgbClr val="E8EEF8"/>
                </a:solidFill>
              </a:rPr>
              <a:t>100 K tokens/día</a:t>
            </a:r>
          </a:p>
        </p:txBody>
      </p:sp>
      <p:sp>
        <p:nvSpPr>
          <p:cNvPr id="9" name="Rectangle 8"/>
          <p:cNvSpPr/>
          <p:nvPr/>
        </p:nvSpPr>
        <p:spPr>
          <a:xfrm>
            <a:off x="274320" y="246888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2523744"/>
            <a:ext cx="1828800" cy="320040"/>
          </a:xfrm>
          <a:prstGeom prst="rect">
            <a:avLst/>
          </a:prstGeom>
          <a:noFill/>
        </p:spPr>
        <p:txBody>
          <a:bodyPr wrap="square">
            <a:spAutoFit/>
          </a:bodyPr>
          <a:lstStyle/>
          <a:p>
            <a:pPr algn="l"/>
            <a:r>
              <a:rPr sz="1200" b="1" i="0">
                <a:solidFill>
                  <a:srgbClr val="D4A017"/>
                </a:solidFill>
              </a:rPr>
              <a:t>LLM fallback 1</a:t>
            </a:r>
          </a:p>
        </p:txBody>
      </p:sp>
      <p:sp>
        <p:nvSpPr>
          <p:cNvPr id="11" name="TextBox 10"/>
          <p:cNvSpPr txBox="1"/>
          <p:nvPr/>
        </p:nvSpPr>
        <p:spPr>
          <a:xfrm>
            <a:off x="384048" y="2834640"/>
            <a:ext cx="5303520" cy="274320"/>
          </a:xfrm>
          <a:prstGeom prst="rect">
            <a:avLst/>
          </a:prstGeom>
          <a:noFill/>
        </p:spPr>
        <p:txBody>
          <a:bodyPr wrap="square">
            <a:spAutoFit/>
          </a:bodyPr>
          <a:lstStyle/>
          <a:p>
            <a:pPr algn="l"/>
            <a:r>
              <a:rPr sz="1400" b="1" i="0">
                <a:solidFill>
                  <a:srgbClr val="D4A017"/>
                </a:solidFill>
              </a:rPr>
              <a:t>Llama 3.1 8B Instant · Groq</a:t>
            </a:r>
          </a:p>
        </p:txBody>
      </p:sp>
      <p:sp>
        <p:nvSpPr>
          <p:cNvPr id="12" name="TextBox 11"/>
          <p:cNvSpPr txBox="1"/>
          <p:nvPr/>
        </p:nvSpPr>
        <p:spPr>
          <a:xfrm>
            <a:off x="384048" y="3090672"/>
            <a:ext cx="5303520" cy="228600"/>
          </a:xfrm>
          <a:prstGeom prst="rect">
            <a:avLst/>
          </a:prstGeom>
          <a:noFill/>
        </p:spPr>
        <p:txBody>
          <a:bodyPr wrap="square">
            <a:spAutoFit/>
          </a:bodyPr>
          <a:lstStyle/>
          <a:p>
            <a:pPr algn="l"/>
            <a:r>
              <a:rPr sz="1200" b="0" i="0">
                <a:solidFill>
                  <a:srgbClr val="E8EEF8"/>
                </a:solidFill>
              </a:rPr>
              <a:t>500 K tokens/día</a:t>
            </a:r>
          </a:p>
        </p:txBody>
      </p:sp>
      <p:sp>
        <p:nvSpPr>
          <p:cNvPr id="13" name="Rectangle 12"/>
          <p:cNvSpPr/>
          <p:nvPr/>
        </p:nvSpPr>
        <p:spPr>
          <a:xfrm>
            <a:off x="274320" y="342900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3483864"/>
            <a:ext cx="1828800" cy="320040"/>
          </a:xfrm>
          <a:prstGeom prst="rect">
            <a:avLst/>
          </a:prstGeom>
          <a:noFill/>
        </p:spPr>
        <p:txBody>
          <a:bodyPr wrap="square">
            <a:spAutoFit/>
          </a:bodyPr>
          <a:lstStyle/>
          <a:p>
            <a:pPr algn="l"/>
            <a:r>
              <a:rPr sz="1200" b="1" i="0">
                <a:solidFill>
                  <a:srgbClr val="D4A017"/>
                </a:solidFill>
              </a:rPr>
              <a:t>LLM fallback 2</a:t>
            </a:r>
          </a:p>
        </p:txBody>
      </p:sp>
      <p:sp>
        <p:nvSpPr>
          <p:cNvPr id="15" name="TextBox 14"/>
          <p:cNvSpPr txBox="1"/>
          <p:nvPr/>
        </p:nvSpPr>
        <p:spPr>
          <a:xfrm>
            <a:off x="384048" y="3794760"/>
            <a:ext cx="5303520" cy="274320"/>
          </a:xfrm>
          <a:prstGeom prst="rect">
            <a:avLst/>
          </a:prstGeom>
          <a:noFill/>
        </p:spPr>
        <p:txBody>
          <a:bodyPr wrap="square">
            <a:spAutoFit/>
          </a:bodyPr>
          <a:lstStyle/>
          <a:p>
            <a:pPr algn="l"/>
            <a:r>
              <a:rPr sz="1400" b="1" i="0">
                <a:solidFill>
                  <a:srgbClr val="D4A017"/>
                </a:solidFill>
              </a:rPr>
              <a:t>Gemini 2.0 Flash · Google AI Studio</a:t>
            </a:r>
          </a:p>
        </p:txBody>
      </p:sp>
      <p:sp>
        <p:nvSpPr>
          <p:cNvPr id="16" name="TextBox 15"/>
          <p:cNvSpPr txBox="1"/>
          <p:nvPr/>
        </p:nvSpPr>
        <p:spPr>
          <a:xfrm>
            <a:off x="384048" y="4050792"/>
            <a:ext cx="5303520" cy="228600"/>
          </a:xfrm>
          <a:prstGeom prst="rect">
            <a:avLst/>
          </a:prstGeom>
          <a:noFill/>
        </p:spPr>
        <p:txBody>
          <a:bodyPr wrap="square">
            <a:spAutoFit/>
          </a:bodyPr>
          <a:lstStyle/>
          <a:p>
            <a:pPr algn="l"/>
            <a:r>
              <a:rPr sz="1200" b="0" i="0">
                <a:solidFill>
                  <a:srgbClr val="E8EEF8"/>
                </a:solidFill>
              </a:rPr>
              <a:t>1 M tokens/día</a:t>
            </a:r>
          </a:p>
        </p:txBody>
      </p:sp>
      <p:sp>
        <p:nvSpPr>
          <p:cNvPr id="17" name="Rectangle 16"/>
          <p:cNvSpPr/>
          <p:nvPr/>
        </p:nvSpPr>
        <p:spPr>
          <a:xfrm>
            <a:off x="274320" y="438912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443984"/>
            <a:ext cx="1828800" cy="320040"/>
          </a:xfrm>
          <a:prstGeom prst="rect">
            <a:avLst/>
          </a:prstGeom>
          <a:noFill/>
        </p:spPr>
        <p:txBody>
          <a:bodyPr wrap="square">
            <a:spAutoFit/>
          </a:bodyPr>
          <a:lstStyle/>
          <a:p>
            <a:pPr algn="l"/>
            <a:r>
              <a:rPr sz="1200" b="1" i="0">
                <a:solidFill>
                  <a:srgbClr val="D4A017"/>
                </a:solidFill>
              </a:rPr>
              <a:t>Framework agente</a:t>
            </a:r>
          </a:p>
        </p:txBody>
      </p:sp>
      <p:sp>
        <p:nvSpPr>
          <p:cNvPr id="19" name="TextBox 18"/>
          <p:cNvSpPr txBox="1"/>
          <p:nvPr/>
        </p:nvSpPr>
        <p:spPr>
          <a:xfrm>
            <a:off x="384048" y="4754880"/>
            <a:ext cx="5303520" cy="274320"/>
          </a:xfrm>
          <a:prstGeom prst="rect">
            <a:avLst/>
          </a:prstGeom>
          <a:noFill/>
        </p:spPr>
        <p:txBody>
          <a:bodyPr wrap="square">
            <a:spAutoFit/>
          </a:bodyPr>
          <a:lstStyle/>
          <a:p>
            <a:pPr algn="l"/>
            <a:r>
              <a:rPr sz="1400" b="1" i="0">
                <a:solidFill>
                  <a:srgbClr val="FFFFFF"/>
                </a:solidFill>
              </a:rPr>
              <a:t>LangGraph 1.1.6 + LangChain 1.0</a:t>
            </a:r>
          </a:p>
        </p:txBody>
      </p:sp>
      <p:sp>
        <p:nvSpPr>
          <p:cNvPr id="20" name="TextBox 19"/>
          <p:cNvSpPr txBox="1"/>
          <p:nvPr/>
        </p:nvSpPr>
        <p:spPr>
          <a:xfrm>
            <a:off x="384048" y="5010912"/>
            <a:ext cx="5303520" cy="228600"/>
          </a:xfrm>
          <a:prstGeom prst="rect">
            <a:avLst/>
          </a:prstGeom>
          <a:noFill/>
        </p:spPr>
        <p:txBody>
          <a:bodyPr wrap="square">
            <a:spAutoFit/>
          </a:bodyPr>
          <a:lstStyle/>
          <a:p>
            <a:pPr algn="l"/>
            <a:r>
              <a:rPr sz="1200" b="0" i="0">
                <a:solidFill>
                  <a:srgbClr val="E8EEF8"/>
                </a:solidFill>
              </a:rPr>
              <a:t>7 nodos / aristas cond.</a:t>
            </a:r>
          </a:p>
        </p:txBody>
      </p:sp>
      <p:sp>
        <p:nvSpPr>
          <p:cNvPr id="21" name="Rectangle 20"/>
          <p:cNvSpPr/>
          <p:nvPr/>
        </p:nvSpPr>
        <p:spPr>
          <a:xfrm>
            <a:off x="274320" y="534924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5404104"/>
            <a:ext cx="1828800" cy="320040"/>
          </a:xfrm>
          <a:prstGeom prst="rect">
            <a:avLst/>
          </a:prstGeom>
          <a:noFill/>
        </p:spPr>
        <p:txBody>
          <a:bodyPr wrap="square">
            <a:spAutoFit/>
          </a:bodyPr>
          <a:lstStyle/>
          <a:p>
            <a:pPr algn="l"/>
            <a:r>
              <a:rPr sz="1200" b="1" i="0">
                <a:solidFill>
                  <a:srgbClr val="D4A017"/>
                </a:solidFill>
              </a:rPr>
              <a:t>Embeddings</a:t>
            </a:r>
          </a:p>
        </p:txBody>
      </p:sp>
      <p:sp>
        <p:nvSpPr>
          <p:cNvPr id="23" name="TextBox 22"/>
          <p:cNvSpPr txBox="1"/>
          <p:nvPr/>
        </p:nvSpPr>
        <p:spPr>
          <a:xfrm>
            <a:off x="384048" y="5715000"/>
            <a:ext cx="5303520" cy="274320"/>
          </a:xfrm>
          <a:prstGeom prst="rect">
            <a:avLst/>
          </a:prstGeom>
          <a:noFill/>
        </p:spPr>
        <p:txBody>
          <a:bodyPr wrap="square">
            <a:spAutoFit/>
          </a:bodyPr>
          <a:lstStyle/>
          <a:p>
            <a:pPr algn="l"/>
            <a:r>
              <a:rPr sz="1400" b="1" i="0">
                <a:solidFill>
                  <a:srgbClr val="1ABC9C"/>
                </a:solidFill>
              </a:rPr>
              <a:t>Jina Embeddings v3 (API cloud)</a:t>
            </a:r>
          </a:p>
        </p:txBody>
      </p:sp>
      <p:sp>
        <p:nvSpPr>
          <p:cNvPr id="24" name="TextBox 23"/>
          <p:cNvSpPr txBox="1"/>
          <p:nvPr/>
        </p:nvSpPr>
        <p:spPr>
          <a:xfrm>
            <a:off x="384048" y="5971032"/>
            <a:ext cx="5303520" cy="228600"/>
          </a:xfrm>
          <a:prstGeom prst="rect">
            <a:avLst/>
          </a:prstGeom>
          <a:noFill/>
        </p:spPr>
        <p:txBody>
          <a:bodyPr wrap="square">
            <a:spAutoFit/>
          </a:bodyPr>
          <a:lstStyle/>
          <a:p>
            <a:pPr algn="l"/>
            <a:r>
              <a:rPr sz="1200" b="0" i="0">
                <a:solidFill>
                  <a:srgbClr val="E8EEF8"/>
                </a:solidFill>
              </a:rPr>
              <a:t>1 024 dims · 1M tok/mes</a:t>
            </a:r>
          </a:p>
        </p:txBody>
      </p:sp>
      <p:sp>
        <p:nvSpPr>
          <p:cNvPr id="25" name="Rectangle 24"/>
          <p:cNvSpPr/>
          <p:nvPr/>
        </p:nvSpPr>
        <p:spPr>
          <a:xfrm>
            <a:off x="6217920" y="150876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7648" y="1563624"/>
            <a:ext cx="1828800" cy="320040"/>
          </a:xfrm>
          <a:prstGeom prst="rect">
            <a:avLst/>
          </a:prstGeom>
          <a:noFill/>
        </p:spPr>
        <p:txBody>
          <a:bodyPr wrap="square">
            <a:spAutoFit/>
          </a:bodyPr>
          <a:lstStyle/>
          <a:p>
            <a:pPr algn="l"/>
            <a:r>
              <a:rPr sz="1200" b="1" i="0">
                <a:solidFill>
                  <a:srgbClr val="D4A017"/>
                </a:solidFill>
              </a:rPr>
              <a:t>Reranker</a:t>
            </a:r>
          </a:p>
        </p:txBody>
      </p:sp>
      <p:sp>
        <p:nvSpPr>
          <p:cNvPr id="27" name="TextBox 26"/>
          <p:cNvSpPr txBox="1"/>
          <p:nvPr/>
        </p:nvSpPr>
        <p:spPr>
          <a:xfrm>
            <a:off x="6327648" y="1874520"/>
            <a:ext cx="5303520" cy="274320"/>
          </a:xfrm>
          <a:prstGeom prst="rect">
            <a:avLst/>
          </a:prstGeom>
          <a:noFill/>
        </p:spPr>
        <p:txBody>
          <a:bodyPr wrap="square">
            <a:spAutoFit/>
          </a:bodyPr>
          <a:lstStyle/>
          <a:p>
            <a:pPr algn="l"/>
            <a:r>
              <a:rPr sz="1400" b="1" i="0">
                <a:solidFill>
                  <a:srgbClr val="1ABC9C"/>
                </a:solidFill>
              </a:rPr>
              <a:t>Jina Reranker v2 multilingual</a:t>
            </a:r>
          </a:p>
        </p:txBody>
      </p:sp>
      <p:sp>
        <p:nvSpPr>
          <p:cNvPr id="28" name="TextBox 27"/>
          <p:cNvSpPr txBox="1"/>
          <p:nvPr/>
        </p:nvSpPr>
        <p:spPr>
          <a:xfrm>
            <a:off x="6327648" y="2130552"/>
            <a:ext cx="5303520" cy="228600"/>
          </a:xfrm>
          <a:prstGeom prst="rect">
            <a:avLst/>
          </a:prstGeom>
          <a:noFill/>
        </p:spPr>
        <p:txBody>
          <a:bodyPr wrap="square">
            <a:spAutoFit/>
          </a:bodyPr>
          <a:lstStyle/>
          <a:p>
            <a:pPr algn="l"/>
            <a:r>
              <a:rPr sz="1200" b="0" i="0">
                <a:solidFill>
                  <a:srgbClr val="E8EEF8"/>
                </a:solidFill>
              </a:rPr>
              <a:t>500 K tok/mes</a:t>
            </a:r>
          </a:p>
        </p:txBody>
      </p:sp>
      <p:sp>
        <p:nvSpPr>
          <p:cNvPr id="29" name="Rectangle 28"/>
          <p:cNvSpPr/>
          <p:nvPr/>
        </p:nvSpPr>
        <p:spPr>
          <a:xfrm>
            <a:off x="6217920" y="246888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7648" y="2523744"/>
            <a:ext cx="1828800" cy="320040"/>
          </a:xfrm>
          <a:prstGeom prst="rect">
            <a:avLst/>
          </a:prstGeom>
          <a:noFill/>
        </p:spPr>
        <p:txBody>
          <a:bodyPr wrap="square">
            <a:spAutoFit/>
          </a:bodyPr>
          <a:lstStyle/>
          <a:p>
            <a:pPr algn="l"/>
            <a:r>
              <a:rPr sz="1200" b="1" i="0">
                <a:solidFill>
                  <a:srgbClr val="D4A017"/>
                </a:solidFill>
              </a:rPr>
              <a:t>Vector store</a:t>
            </a:r>
          </a:p>
        </p:txBody>
      </p:sp>
      <p:sp>
        <p:nvSpPr>
          <p:cNvPr id="31" name="TextBox 30"/>
          <p:cNvSpPr txBox="1"/>
          <p:nvPr/>
        </p:nvSpPr>
        <p:spPr>
          <a:xfrm>
            <a:off x="6327648" y="2834640"/>
            <a:ext cx="5303520" cy="274320"/>
          </a:xfrm>
          <a:prstGeom prst="rect">
            <a:avLst/>
          </a:prstGeom>
          <a:noFill/>
        </p:spPr>
        <p:txBody>
          <a:bodyPr wrap="square">
            <a:spAutoFit/>
          </a:bodyPr>
          <a:lstStyle/>
          <a:p>
            <a:pPr algn="l"/>
            <a:r>
              <a:rPr sz="1400" b="1" i="0">
                <a:solidFill>
                  <a:srgbClr val="1ABC9C"/>
                </a:solidFill>
              </a:rPr>
              <a:t>Qdrant Cloud</a:t>
            </a:r>
          </a:p>
        </p:txBody>
      </p:sp>
      <p:sp>
        <p:nvSpPr>
          <p:cNvPr id="32" name="TextBox 31"/>
          <p:cNvSpPr txBox="1"/>
          <p:nvPr/>
        </p:nvSpPr>
        <p:spPr>
          <a:xfrm>
            <a:off x="6327648" y="3090672"/>
            <a:ext cx="5303520" cy="228600"/>
          </a:xfrm>
          <a:prstGeom prst="rect">
            <a:avLst/>
          </a:prstGeom>
          <a:noFill/>
        </p:spPr>
        <p:txBody>
          <a:bodyPr wrap="square">
            <a:spAutoFit/>
          </a:bodyPr>
          <a:lstStyle/>
          <a:p>
            <a:pPr algn="l"/>
            <a:r>
              <a:rPr sz="1200" b="0" i="0">
                <a:solidFill>
                  <a:srgbClr val="E8EEF8"/>
                </a:solidFill>
              </a:rPr>
              <a:t>Cluster gratuito</a:t>
            </a:r>
          </a:p>
        </p:txBody>
      </p:sp>
      <p:sp>
        <p:nvSpPr>
          <p:cNvPr id="33" name="Rectangle 32"/>
          <p:cNvSpPr/>
          <p:nvPr/>
        </p:nvSpPr>
        <p:spPr>
          <a:xfrm>
            <a:off x="6217920" y="342900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7648" y="3483864"/>
            <a:ext cx="1828800" cy="320040"/>
          </a:xfrm>
          <a:prstGeom prst="rect">
            <a:avLst/>
          </a:prstGeom>
          <a:noFill/>
        </p:spPr>
        <p:txBody>
          <a:bodyPr wrap="square">
            <a:spAutoFit/>
          </a:bodyPr>
          <a:lstStyle/>
          <a:p>
            <a:pPr algn="l"/>
            <a:r>
              <a:rPr sz="1200" b="1" i="0">
                <a:solidFill>
                  <a:srgbClr val="D4A017"/>
                </a:solidFill>
              </a:rPr>
              <a:t>Observabilidad</a:t>
            </a:r>
          </a:p>
        </p:txBody>
      </p:sp>
      <p:sp>
        <p:nvSpPr>
          <p:cNvPr id="35" name="TextBox 34"/>
          <p:cNvSpPr txBox="1"/>
          <p:nvPr/>
        </p:nvSpPr>
        <p:spPr>
          <a:xfrm>
            <a:off x="6327648" y="3794760"/>
            <a:ext cx="5303520" cy="274320"/>
          </a:xfrm>
          <a:prstGeom prst="rect">
            <a:avLst/>
          </a:prstGeom>
          <a:noFill/>
        </p:spPr>
        <p:txBody>
          <a:bodyPr wrap="square">
            <a:spAutoFit/>
          </a:bodyPr>
          <a:lstStyle/>
          <a:p>
            <a:pPr algn="l"/>
            <a:r>
              <a:rPr sz="1400" b="1" i="0">
                <a:solidFill>
                  <a:srgbClr val="2ECC71"/>
                </a:solidFill>
              </a:rPr>
              <a:t>Langfuse Cloud 3.x</a:t>
            </a:r>
          </a:p>
        </p:txBody>
      </p:sp>
      <p:sp>
        <p:nvSpPr>
          <p:cNvPr id="36" name="TextBox 35"/>
          <p:cNvSpPr txBox="1"/>
          <p:nvPr/>
        </p:nvSpPr>
        <p:spPr>
          <a:xfrm>
            <a:off x="6327648" y="4050792"/>
            <a:ext cx="5303520" cy="228600"/>
          </a:xfrm>
          <a:prstGeom prst="rect">
            <a:avLst/>
          </a:prstGeom>
          <a:noFill/>
        </p:spPr>
        <p:txBody>
          <a:bodyPr wrap="square">
            <a:spAutoFit/>
          </a:bodyPr>
          <a:lstStyle/>
          <a:p>
            <a:pPr algn="l"/>
            <a:r>
              <a:rPr sz="1200" b="0" i="0">
                <a:solidFill>
                  <a:srgbClr val="E8EEF8"/>
                </a:solidFill>
              </a:rPr>
              <a:t>Trazas ilimitadas</a:t>
            </a:r>
          </a:p>
        </p:txBody>
      </p:sp>
      <p:sp>
        <p:nvSpPr>
          <p:cNvPr id="37" name="Rectangle 36"/>
          <p:cNvSpPr/>
          <p:nvPr/>
        </p:nvSpPr>
        <p:spPr>
          <a:xfrm>
            <a:off x="6217920" y="438912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27648" y="4443984"/>
            <a:ext cx="1828800" cy="320040"/>
          </a:xfrm>
          <a:prstGeom prst="rect">
            <a:avLst/>
          </a:prstGeom>
          <a:noFill/>
        </p:spPr>
        <p:txBody>
          <a:bodyPr wrap="square">
            <a:spAutoFit/>
          </a:bodyPr>
          <a:lstStyle/>
          <a:p>
            <a:pPr algn="l"/>
            <a:r>
              <a:rPr sz="1200" b="1" i="0">
                <a:solidFill>
                  <a:srgbClr val="D4A017"/>
                </a:solidFill>
              </a:rPr>
              <a:t>Interfaz</a:t>
            </a:r>
          </a:p>
        </p:txBody>
      </p:sp>
      <p:sp>
        <p:nvSpPr>
          <p:cNvPr id="39" name="TextBox 38"/>
          <p:cNvSpPr txBox="1"/>
          <p:nvPr/>
        </p:nvSpPr>
        <p:spPr>
          <a:xfrm>
            <a:off x="6327648" y="4754880"/>
            <a:ext cx="5303520" cy="274320"/>
          </a:xfrm>
          <a:prstGeom prst="rect">
            <a:avLst/>
          </a:prstGeom>
          <a:noFill/>
        </p:spPr>
        <p:txBody>
          <a:bodyPr wrap="square">
            <a:spAutoFit/>
          </a:bodyPr>
          <a:lstStyle/>
          <a:p>
            <a:pPr algn="l"/>
            <a:r>
              <a:rPr sz="1400" b="1" i="0">
                <a:solidFill>
                  <a:srgbClr val="2ECC71"/>
                </a:solidFill>
              </a:rPr>
              <a:t>Streamlit Community Cloud 1.40</a:t>
            </a:r>
          </a:p>
        </p:txBody>
      </p:sp>
      <p:sp>
        <p:nvSpPr>
          <p:cNvPr id="40" name="TextBox 39"/>
          <p:cNvSpPr txBox="1"/>
          <p:nvPr/>
        </p:nvSpPr>
        <p:spPr>
          <a:xfrm>
            <a:off x="6327648" y="5010912"/>
            <a:ext cx="5303520" cy="228600"/>
          </a:xfrm>
          <a:prstGeom prst="rect">
            <a:avLst/>
          </a:prstGeom>
          <a:noFill/>
        </p:spPr>
        <p:txBody>
          <a:bodyPr wrap="square">
            <a:spAutoFit/>
          </a:bodyPr>
          <a:lstStyle/>
          <a:p>
            <a:pPr algn="l"/>
            <a:r>
              <a:rPr sz="1200" b="0" i="0">
                <a:solidFill>
                  <a:srgbClr val="E8EEF8"/>
                </a:solidFill>
              </a:rPr>
              <a:t>Deploy público</a:t>
            </a:r>
          </a:p>
        </p:txBody>
      </p:sp>
      <p:sp>
        <p:nvSpPr>
          <p:cNvPr id="41" name="Rectangle 40"/>
          <p:cNvSpPr/>
          <p:nvPr/>
        </p:nvSpPr>
        <p:spPr>
          <a:xfrm>
            <a:off x="6217920" y="5349240"/>
            <a:ext cx="5577840" cy="86868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27648" y="5404104"/>
            <a:ext cx="1828800" cy="320040"/>
          </a:xfrm>
          <a:prstGeom prst="rect">
            <a:avLst/>
          </a:prstGeom>
          <a:noFill/>
        </p:spPr>
        <p:txBody>
          <a:bodyPr wrap="square">
            <a:spAutoFit/>
          </a:bodyPr>
          <a:lstStyle/>
          <a:p>
            <a:pPr algn="l"/>
            <a:r>
              <a:rPr sz="1200" b="1" i="0">
                <a:solidFill>
                  <a:srgbClr val="D4A017"/>
                </a:solidFill>
              </a:rPr>
              <a:t>Evaluación</a:t>
            </a:r>
          </a:p>
        </p:txBody>
      </p:sp>
      <p:sp>
        <p:nvSpPr>
          <p:cNvPr id="43" name="TextBox 42"/>
          <p:cNvSpPr txBox="1"/>
          <p:nvPr/>
        </p:nvSpPr>
        <p:spPr>
          <a:xfrm>
            <a:off x="6327648" y="5715000"/>
            <a:ext cx="5303520" cy="274320"/>
          </a:xfrm>
          <a:prstGeom prst="rect">
            <a:avLst/>
          </a:prstGeom>
          <a:noFill/>
        </p:spPr>
        <p:txBody>
          <a:bodyPr wrap="square">
            <a:spAutoFit/>
          </a:bodyPr>
          <a:lstStyle/>
          <a:p>
            <a:pPr algn="l"/>
            <a:r>
              <a:rPr sz="1400" b="1" i="0">
                <a:solidFill>
                  <a:srgbClr val="FFFFFF"/>
                </a:solidFill>
              </a:rPr>
              <a:t>RAGAS 0.2.6 + evaluación manual</a:t>
            </a:r>
          </a:p>
        </p:txBody>
      </p:sp>
      <p:sp>
        <p:nvSpPr>
          <p:cNvPr id="44" name="TextBox 43"/>
          <p:cNvSpPr txBox="1"/>
          <p:nvPr/>
        </p:nvSpPr>
        <p:spPr>
          <a:xfrm>
            <a:off x="6327648" y="5971032"/>
            <a:ext cx="5303520" cy="228600"/>
          </a:xfrm>
          <a:prstGeom prst="rect">
            <a:avLst/>
          </a:prstGeom>
          <a:noFill/>
        </p:spPr>
        <p:txBody>
          <a:bodyPr wrap="square">
            <a:spAutoFit/>
          </a:bodyPr>
          <a:lstStyle/>
          <a:p>
            <a:pPr algn="l"/>
            <a:r>
              <a:rPr sz="1200" b="0" i="0">
                <a:solidFill>
                  <a:srgbClr val="E8EEF8"/>
                </a:solidFill>
              </a:rPr>
              <a:t>20 casos de prueba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Base de Conocimiento</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3 861 chunks semánticos indexados en Qdrant Cloud con Jina Embeddings v3</a:t>
            </a:r>
          </a:p>
        </p:txBody>
      </p:sp>
      <p:sp>
        <p:nvSpPr>
          <p:cNvPr id="5" name="Rectangle 4"/>
          <p:cNvSpPr/>
          <p:nvPr/>
        </p:nvSpPr>
        <p:spPr>
          <a:xfrm>
            <a:off x="274320" y="1417320"/>
            <a:ext cx="640080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27048"/>
            <a:ext cx="5943600" cy="347472"/>
          </a:xfrm>
          <a:prstGeom prst="rect">
            <a:avLst/>
          </a:prstGeom>
          <a:noFill/>
        </p:spPr>
        <p:txBody>
          <a:bodyPr wrap="square">
            <a:spAutoFit/>
          </a:bodyPr>
          <a:lstStyle/>
          <a:p>
            <a:pPr algn="l"/>
            <a:r>
              <a:rPr sz="1500" b="0" i="0">
                <a:solidFill>
                  <a:srgbClr val="FFFFFF"/>
                </a:solidFill>
              </a:rPr>
              <a:t>Ley 28008 + Reglamento</a:t>
            </a:r>
          </a:p>
        </p:txBody>
      </p:sp>
      <p:sp>
        <p:nvSpPr>
          <p:cNvPr id="7" name="Rectangle 6"/>
          <p:cNvSpPr/>
          <p:nvPr/>
        </p:nvSpPr>
        <p:spPr>
          <a:xfrm>
            <a:off x="6766560" y="1417320"/>
            <a:ext cx="146304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12280" y="1527048"/>
            <a:ext cx="1371600" cy="347472"/>
          </a:xfrm>
          <a:prstGeom prst="rect">
            <a:avLst/>
          </a:prstGeom>
          <a:noFill/>
        </p:spPr>
        <p:txBody>
          <a:bodyPr wrap="square">
            <a:spAutoFit/>
          </a:bodyPr>
          <a:lstStyle/>
          <a:p>
            <a:pPr algn="ctr"/>
            <a:r>
              <a:rPr sz="1400" b="0" i="0">
                <a:solidFill>
                  <a:srgbClr val="E8EEF8"/>
                </a:solidFill>
              </a:rPr>
              <a:t>2 docs</a:t>
            </a:r>
          </a:p>
        </p:txBody>
      </p:sp>
      <p:sp>
        <p:nvSpPr>
          <p:cNvPr id="9" name="Rectangle 8"/>
          <p:cNvSpPr/>
          <p:nvPr/>
        </p:nvSpPr>
        <p:spPr>
          <a:xfrm>
            <a:off x="8321040" y="1527048"/>
            <a:ext cx="238507"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508760"/>
            <a:ext cx="3383280" cy="347472"/>
          </a:xfrm>
          <a:prstGeom prst="rect">
            <a:avLst/>
          </a:prstGeom>
          <a:noFill/>
        </p:spPr>
        <p:txBody>
          <a:bodyPr wrap="square">
            <a:spAutoFit/>
          </a:bodyPr>
          <a:lstStyle/>
          <a:p>
            <a:pPr algn="l"/>
            <a:r>
              <a:rPr sz="1300" b="1" i="0">
                <a:solidFill>
                  <a:srgbClr val="0A1A3E"/>
                </a:solidFill>
              </a:rPr>
              <a:t>102 chunks</a:t>
            </a:r>
          </a:p>
        </p:txBody>
      </p:sp>
      <p:sp>
        <p:nvSpPr>
          <p:cNvPr id="11" name="Rectangle 10"/>
          <p:cNvSpPr/>
          <p:nvPr/>
        </p:nvSpPr>
        <p:spPr>
          <a:xfrm>
            <a:off x="274320" y="1965960"/>
            <a:ext cx="640080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075688"/>
            <a:ext cx="5943600" cy="347472"/>
          </a:xfrm>
          <a:prstGeom prst="rect">
            <a:avLst/>
          </a:prstGeom>
          <a:noFill/>
        </p:spPr>
        <p:txBody>
          <a:bodyPr wrap="square">
            <a:spAutoFit/>
          </a:bodyPr>
          <a:lstStyle/>
          <a:p>
            <a:pPr algn="l"/>
            <a:r>
              <a:rPr sz="1500" b="0" i="0">
                <a:solidFill>
                  <a:srgbClr val="FFFFFF"/>
                </a:solidFill>
              </a:rPr>
              <a:t>DL 1053 — Ley Gral. de Aduanas</a:t>
            </a:r>
          </a:p>
        </p:txBody>
      </p:sp>
      <p:sp>
        <p:nvSpPr>
          <p:cNvPr id="13" name="Rectangle 12"/>
          <p:cNvSpPr/>
          <p:nvPr/>
        </p:nvSpPr>
        <p:spPr>
          <a:xfrm>
            <a:off x="6766560" y="1965960"/>
            <a:ext cx="146304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075688"/>
            <a:ext cx="1371600" cy="347472"/>
          </a:xfrm>
          <a:prstGeom prst="rect">
            <a:avLst/>
          </a:prstGeom>
          <a:noFill/>
        </p:spPr>
        <p:txBody>
          <a:bodyPr wrap="square">
            <a:spAutoFit/>
          </a:bodyPr>
          <a:lstStyle/>
          <a:p>
            <a:pPr algn="ctr"/>
            <a:r>
              <a:rPr sz="1400" b="0" i="0">
                <a:solidFill>
                  <a:srgbClr val="E8EEF8"/>
                </a:solidFill>
              </a:rPr>
              <a:t>3 docs</a:t>
            </a:r>
          </a:p>
        </p:txBody>
      </p:sp>
      <p:sp>
        <p:nvSpPr>
          <p:cNvPr id="15" name="Rectangle 14"/>
          <p:cNvSpPr/>
          <p:nvPr/>
        </p:nvSpPr>
        <p:spPr>
          <a:xfrm>
            <a:off x="8321040" y="2075688"/>
            <a:ext cx="1056913"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057400"/>
            <a:ext cx="3383280" cy="347472"/>
          </a:xfrm>
          <a:prstGeom prst="rect">
            <a:avLst/>
          </a:prstGeom>
          <a:noFill/>
        </p:spPr>
        <p:txBody>
          <a:bodyPr wrap="square">
            <a:spAutoFit/>
          </a:bodyPr>
          <a:lstStyle/>
          <a:p>
            <a:pPr algn="l"/>
            <a:r>
              <a:rPr sz="1300" b="1" i="0">
                <a:solidFill>
                  <a:srgbClr val="0A1A3E"/>
                </a:solidFill>
              </a:rPr>
              <a:t>452 chunks</a:t>
            </a:r>
          </a:p>
        </p:txBody>
      </p:sp>
      <p:sp>
        <p:nvSpPr>
          <p:cNvPr id="17" name="Rectangle 16"/>
          <p:cNvSpPr/>
          <p:nvPr/>
        </p:nvSpPr>
        <p:spPr>
          <a:xfrm>
            <a:off x="274320" y="2514600"/>
            <a:ext cx="640080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624328"/>
            <a:ext cx="5943600" cy="347472"/>
          </a:xfrm>
          <a:prstGeom prst="rect">
            <a:avLst/>
          </a:prstGeom>
          <a:noFill/>
        </p:spPr>
        <p:txBody>
          <a:bodyPr wrap="square">
            <a:spAutoFit/>
          </a:bodyPr>
          <a:lstStyle/>
          <a:p>
            <a:pPr algn="l"/>
            <a:r>
              <a:rPr sz="1500" b="0" i="0">
                <a:solidFill>
                  <a:srgbClr val="FFFFFF"/>
                </a:solidFill>
              </a:rPr>
              <a:t>Procedimientos de despacho</a:t>
            </a:r>
          </a:p>
        </p:txBody>
      </p:sp>
      <p:sp>
        <p:nvSpPr>
          <p:cNvPr id="19" name="Rectangle 18"/>
          <p:cNvSpPr/>
          <p:nvPr/>
        </p:nvSpPr>
        <p:spPr>
          <a:xfrm>
            <a:off x="6766560" y="2514600"/>
            <a:ext cx="146304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2624328"/>
            <a:ext cx="1371600" cy="347472"/>
          </a:xfrm>
          <a:prstGeom prst="rect">
            <a:avLst/>
          </a:prstGeom>
          <a:noFill/>
        </p:spPr>
        <p:txBody>
          <a:bodyPr wrap="square">
            <a:spAutoFit/>
          </a:bodyPr>
          <a:lstStyle/>
          <a:p>
            <a:pPr algn="ctr"/>
            <a:r>
              <a:rPr sz="1400" b="0" i="0">
                <a:solidFill>
                  <a:srgbClr val="E8EEF8"/>
                </a:solidFill>
              </a:rPr>
              <a:t>95 docs</a:t>
            </a:r>
          </a:p>
        </p:txBody>
      </p:sp>
      <p:sp>
        <p:nvSpPr>
          <p:cNvPr id="21" name="Rectangle 20"/>
          <p:cNvSpPr/>
          <p:nvPr/>
        </p:nvSpPr>
        <p:spPr>
          <a:xfrm>
            <a:off x="8321040" y="2624328"/>
            <a:ext cx="3474720"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606040"/>
            <a:ext cx="3383280" cy="347472"/>
          </a:xfrm>
          <a:prstGeom prst="rect">
            <a:avLst/>
          </a:prstGeom>
          <a:noFill/>
        </p:spPr>
        <p:txBody>
          <a:bodyPr wrap="square">
            <a:spAutoFit/>
          </a:bodyPr>
          <a:lstStyle/>
          <a:p>
            <a:pPr algn="l"/>
            <a:r>
              <a:rPr sz="1300" b="1" i="0">
                <a:solidFill>
                  <a:srgbClr val="0A1A3E"/>
                </a:solidFill>
              </a:rPr>
              <a:t>1 486 chunks</a:t>
            </a:r>
          </a:p>
        </p:txBody>
      </p:sp>
      <p:sp>
        <p:nvSpPr>
          <p:cNvPr id="23" name="Rectangle 22"/>
          <p:cNvSpPr/>
          <p:nvPr/>
        </p:nvSpPr>
        <p:spPr>
          <a:xfrm>
            <a:off x="274320" y="3063240"/>
            <a:ext cx="640080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3172968"/>
            <a:ext cx="5943600" cy="347472"/>
          </a:xfrm>
          <a:prstGeom prst="rect">
            <a:avLst/>
          </a:prstGeom>
          <a:noFill/>
        </p:spPr>
        <p:txBody>
          <a:bodyPr wrap="square">
            <a:spAutoFit/>
          </a:bodyPr>
          <a:lstStyle/>
          <a:p>
            <a:pPr algn="l"/>
            <a:r>
              <a:rPr sz="1500" b="0" i="0">
                <a:solidFill>
                  <a:srgbClr val="FFFFFF"/>
                </a:solidFill>
              </a:rPr>
              <a:t>Procedimientos de fiscalización</a:t>
            </a:r>
          </a:p>
        </p:txBody>
      </p:sp>
      <p:sp>
        <p:nvSpPr>
          <p:cNvPr id="25" name="Rectangle 24"/>
          <p:cNvSpPr/>
          <p:nvPr/>
        </p:nvSpPr>
        <p:spPr>
          <a:xfrm>
            <a:off x="6766560" y="3063240"/>
            <a:ext cx="146304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80" y="3172968"/>
            <a:ext cx="1371600" cy="347472"/>
          </a:xfrm>
          <a:prstGeom prst="rect">
            <a:avLst/>
          </a:prstGeom>
          <a:noFill/>
        </p:spPr>
        <p:txBody>
          <a:bodyPr wrap="square">
            <a:spAutoFit/>
          </a:bodyPr>
          <a:lstStyle/>
          <a:p>
            <a:pPr algn="ctr"/>
            <a:r>
              <a:rPr sz="1400" b="0" i="0">
                <a:solidFill>
                  <a:srgbClr val="E8EEF8"/>
                </a:solidFill>
              </a:rPr>
              <a:t>13 docs</a:t>
            </a:r>
          </a:p>
        </p:txBody>
      </p:sp>
      <p:sp>
        <p:nvSpPr>
          <p:cNvPr id="27" name="Rectangle 26"/>
          <p:cNvSpPr/>
          <p:nvPr/>
        </p:nvSpPr>
        <p:spPr>
          <a:xfrm>
            <a:off x="8321040" y="3172968"/>
            <a:ext cx="318009"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60" y="3154680"/>
            <a:ext cx="3383280" cy="347472"/>
          </a:xfrm>
          <a:prstGeom prst="rect">
            <a:avLst/>
          </a:prstGeom>
          <a:noFill/>
        </p:spPr>
        <p:txBody>
          <a:bodyPr wrap="square">
            <a:spAutoFit/>
          </a:bodyPr>
          <a:lstStyle/>
          <a:p>
            <a:pPr algn="l"/>
            <a:r>
              <a:rPr sz="1300" b="1" i="0">
                <a:solidFill>
                  <a:srgbClr val="0A1A3E"/>
                </a:solidFill>
              </a:rPr>
              <a:t>136 chunks</a:t>
            </a:r>
          </a:p>
        </p:txBody>
      </p:sp>
      <p:sp>
        <p:nvSpPr>
          <p:cNvPr id="29" name="Rectangle 28"/>
          <p:cNvSpPr/>
          <p:nvPr/>
        </p:nvSpPr>
        <p:spPr>
          <a:xfrm>
            <a:off x="274320" y="3611880"/>
            <a:ext cx="640080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721608"/>
            <a:ext cx="5943600" cy="347472"/>
          </a:xfrm>
          <a:prstGeom prst="rect">
            <a:avLst/>
          </a:prstGeom>
          <a:noFill/>
        </p:spPr>
        <p:txBody>
          <a:bodyPr wrap="square">
            <a:spAutoFit/>
          </a:bodyPr>
          <a:lstStyle/>
          <a:p>
            <a:pPr algn="l"/>
            <a:r>
              <a:rPr sz="1500" b="0" i="0">
                <a:solidFill>
                  <a:srgbClr val="FFFFFF"/>
                </a:solidFill>
              </a:rPr>
              <a:t>Procedimientos de recaudación</a:t>
            </a:r>
          </a:p>
        </p:txBody>
      </p:sp>
      <p:sp>
        <p:nvSpPr>
          <p:cNvPr id="31" name="Rectangle 30"/>
          <p:cNvSpPr/>
          <p:nvPr/>
        </p:nvSpPr>
        <p:spPr>
          <a:xfrm>
            <a:off x="6766560" y="3611880"/>
            <a:ext cx="146304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12280" y="3721608"/>
            <a:ext cx="1371600" cy="347472"/>
          </a:xfrm>
          <a:prstGeom prst="rect">
            <a:avLst/>
          </a:prstGeom>
          <a:noFill/>
        </p:spPr>
        <p:txBody>
          <a:bodyPr wrap="square">
            <a:spAutoFit/>
          </a:bodyPr>
          <a:lstStyle/>
          <a:p>
            <a:pPr algn="ctr"/>
            <a:r>
              <a:rPr sz="1400" b="0" i="0">
                <a:solidFill>
                  <a:srgbClr val="E8EEF8"/>
                </a:solidFill>
              </a:rPr>
              <a:t>16 docs</a:t>
            </a:r>
          </a:p>
        </p:txBody>
      </p:sp>
      <p:sp>
        <p:nvSpPr>
          <p:cNvPr id="33" name="Rectangle 32"/>
          <p:cNvSpPr/>
          <p:nvPr/>
        </p:nvSpPr>
        <p:spPr>
          <a:xfrm>
            <a:off x="8321040" y="3721608"/>
            <a:ext cx="423233"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60" y="3703320"/>
            <a:ext cx="3383280" cy="347472"/>
          </a:xfrm>
          <a:prstGeom prst="rect">
            <a:avLst/>
          </a:prstGeom>
          <a:noFill/>
        </p:spPr>
        <p:txBody>
          <a:bodyPr wrap="square">
            <a:spAutoFit/>
          </a:bodyPr>
          <a:lstStyle/>
          <a:p>
            <a:pPr algn="l"/>
            <a:r>
              <a:rPr sz="1300" b="1" i="0">
                <a:solidFill>
                  <a:srgbClr val="0A1A3E"/>
                </a:solidFill>
              </a:rPr>
              <a:t>181 chunks</a:t>
            </a:r>
          </a:p>
        </p:txBody>
      </p:sp>
      <p:sp>
        <p:nvSpPr>
          <p:cNvPr id="35" name="Rectangle 34"/>
          <p:cNvSpPr/>
          <p:nvPr/>
        </p:nvSpPr>
        <p:spPr>
          <a:xfrm>
            <a:off x="274320" y="4160520"/>
            <a:ext cx="640080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4270248"/>
            <a:ext cx="5943600" cy="347472"/>
          </a:xfrm>
          <a:prstGeom prst="rect">
            <a:avLst/>
          </a:prstGeom>
          <a:noFill/>
        </p:spPr>
        <p:txBody>
          <a:bodyPr wrap="square">
            <a:spAutoFit/>
          </a:bodyPr>
          <a:lstStyle/>
          <a:p>
            <a:pPr algn="l"/>
            <a:r>
              <a:rPr sz="1500" b="0" i="0">
                <a:solidFill>
                  <a:srgbClr val="FFFFFF"/>
                </a:solidFill>
              </a:rPr>
              <a:t>Normas asociadas</a:t>
            </a:r>
          </a:p>
        </p:txBody>
      </p:sp>
      <p:sp>
        <p:nvSpPr>
          <p:cNvPr id="37" name="Rectangle 36"/>
          <p:cNvSpPr/>
          <p:nvPr/>
        </p:nvSpPr>
        <p:spPr>
          <a:xfrm>
            <a:off x="6766560" y="4160520"/>
            <a:ext cx="146304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2280" y="4270248"/>
            <a:ext cx="1371600" cy="347472"/>
          </a:xfrm>
          <a:prstGeom prst="rect">
            <a:avLst/>
          </a:prstGeom>
          <a:noFill/>
        </p:spPr>
        <p:txBody>
          <a:bodyPr wrap="square">
            <a:spAutoFit/>
          </a:bodyPr>
          <a:lstStyle/>
          <a:p>
            <a:pPr algn="ctr"/>
            <a:r>
              <a:rPr sz="1400" b="0" i="0">
                <a:solidFill>
                  <a:srgbClr val="E8EEF8"/>
                </a:solidFill>
              </a:rPr>
              <a:t>11 docs</a:t>
            </a:r>
          </a:p>
        </p:txBody>
      </p:sp>
      <p:sp>
        <p:nvSpPr>
          <p:cNvPr id="39" name="Rectangle 38"/>
          <p:cNvSpPr/>
          <p:nvPr/>
        </p:nvSpPr>
        <p:spPr>
          <a:xfrm>
            <a:off x="8321040" y="4270248"/>
            <a:ext cx="474675"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66760" y="4251960"/>
            <a:ext cx="3383280" cy="347472"/>
          </a:xfrm>
          <a:prstGeom prst="rect">
            <a:avLst/>
          </a:prstGeom>
          <a:noFill/>
        </p:spPr>
        <p:txBody>
          <a:bodyPr wrap="square">
            <a:spAutoFit/>
          </a:bodyPr>
          <a:lstStyle/>
          <a:p>
            <a:pPr algn="l"/>
            <a:r>
              <a:rPr sz="1300" b="1" i="0">
                <a:solidFill>
                  <a:srgbClr val="0A1A3E"/>
                </a:solidFill>
              </a:rPr>
              <a:t>203 chunks</a:t>
            </a:r>
          </a:p>
        </p:txBody>
      </p:sp>
      <p:sp>
        <p:nvSpPr>
          <p:cNvPr id="41" name="Rectangle 40"/>
          <p:cNvSpPr/>
          <p:nvPr/>
        </p:nvSpPr>
        <p:spPr>
          <a:xfrm>
            <a:off x="274320" y="4709160"/>
            <a:ext cx="640080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4818888"/>
            <a:ext cx="5943600" cy="347472"/>
          </a:xfrm>
          <a:prstGeom prst="rect">
            <a:avLst/>
          </a:prstGeom>
          <a:noFill/>
        </p:spPr>
        <p:txBody>
          <a:bodyPr wrap="square">
            <a:spAutoFit/>
          </a:bodyPr>
          <a:lstStyle/>
          <a:p>
            <a:pPr algn="l"/>
            <a:r>
              <a:rPr sz="1500" b="0" i="0">
                <a:solidFill>
                  <a:srgbClr val="FFFFFF"/>
                </a:solidFill>
              </a:rPr>
              <a:t>Normas generales</a:t>
            </a:r>
          </a:p>
        </p:txBody>
      </p:sp>
      <p:sp>
        <p:nvSpPr>
          <p:cNvPr id="43" name="Rectangle 42"/>
          <p:cNvSpPr/>
          <p:nvPr/>
        </p:nvSpPr>
        <p:spPr>
          <a:xfrm>
            <a:off x="6766560" y="4709160"/>
            <a:ext cx="1463040"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12280" y="4818888"/>
            <a:ext cx="1371600" cy="347472"/>
          </a:xfrm>
          <a:prstGeom prst="rect">
            <a:avLst/>
          </a:prstGeom>
          <a:noFill/>
        </p:spPr>
        <p:txBody>
          <a:bodyPr wrap="square">
            <a:spAutoFit/>
          </a:bodyPr>
          <a:lstStyle/>
          <a:p>
            <a:pPr algn="ctr"/>
            <a:r>
              <a:rPr sz="1400" b="0" i="0">
                <a:solidFill>
                  <a:srgbClr val="E8EEF8"/>
                </a:solidFill>
              </a:rPr>
              <a:t>6 docs</a:t>
            </a:r>
          </a:p>
        </p:txBody>
      </p:sp>
      <p:sp>
        <p:nvSpPr>
          <p:cNvPr id="45" name="Rectangle 44"/>
          <p:cNvSpPr/>
          <p:nvPr/>
        </p:nvSpPr>
        <p:spPr>
          <a:xfrm>
            <a:off x="8321040" y="4818888"/>
            <a:ext cx="1087311"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66760" y="4800600"/>
            <a:ext cx="3383280" cy="347472"/>
          </a:xfrm>
          <a:prstGeom prst="rect">
            <a:avLst/>
          </a:prstGeom>
          <a:noFill/>
        </p:spPr>
        <p:txBody>
          <a:bodyPr wrap="square">
            <a:spAutoFit/>
          </a:bodyPr>
          <a:lstStyle/>
          <a:p>
            <a:pPr algn="l"/>
            <a:r>
              <a:rPr sz="1300" b="1" i="0">
                <a:solidFill>
                  <a:srgbClr val="0A1A3E"/>
                </a:solidFill>
              </a:rPr>
              <a:t>465 chunks</a:t>
            </a:r>
          </a:p>
        </p:txBody>
      </p:sp>
      <p:sp>
        <p:nvSpPr>
          <p:cNvPr id="47" name="Rectangle 46"/>
          <p:cNvSpPr/>
          <p:nvPr/>
        </p:nvSpPr>
        <p:spPr>
          <a:xfrm>
            <a:off x="274320" y="5257800"/>
            <a:ext cx="640080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1480" y="5367528"/>
            <a:ext cx="5943600" cy="347472"/>
          </a:xfrm>
          <a:prstGeom prst="rect">
            <a:avLst/>
          </a:prstGeom>
          <a:noFill/>
        </p:spPr>
        <p:txBody>
          <a:bodyPr wrap="square">
            <a:spAutoFit/>
          </a:bodyPr>
          <a:lstStyle/>
          <a:p>
            <a:pPr algn="l"/>
            <a:r>
              <a:rPr sz="1500" b="0" i="0">
                <a:solidFill>
                  <a:srgbClr val="FFFFFF"/>
                </a:solidFill>
              </a:rPr>
              <a:t>Arancel de Aduanas 2022</a:t>
            </a:r>
          </a:p>
        </p:txBody>
      </p:sp>
      <p:sp>
        <p:nvSpPr>
          <p:cNvPr id="49" name="Rectangle 48"/>
          <p:cNvSpPr/>
          <p:nvPr/>
        </p:nvSpPr>
        <p:spPr>
          <a:xfrm>
            <a:off x="6766560" y="5257800"/>
            <a:ext cx="1463040" cy="502920"/>
          </a:xfrm>
          <a:prstGeom prst="rect">
            <a:avLst/>
          </a:prstGeom>
          <a:solidFill>
            <a:srgbClr val="14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2280" y="5367528"/>
            <a:ext cx="1371600" cy="347472"/>
          </a:xfrm>
          <a:prstGeom prst="rect">
            <a:avLst/>
          </a:prstGeom>
          <a:noFill/>
        </p:spPr>
        <p:txBody>
          <a:bodyPr wrap="square">
            <a:spAutoFit/>
          </a:bodyPr>
          <a:lstStyle/>
          <a:p>
            <a:pPr algn="ctr"/>
            <a:r>
              <a:rPr sz="1400" b="0" i="0">
                <a:solidFill>
                  <a:srgbClr val="E8EEF8"/>
                </a:solidFill>
              </a:rPr>
              <a:t>2 docs</a:t>
            </a:r>
          </a:p>
        </p:txBody>
      </p:sp>
      <p:sp>
        <p:nvSpPr>
          <p:cNvPr id="51" name="Rectangle 50"/>
          <p:cNvSpPr/>
          <p:nvPr/>
        </p:nvSpPr>
        <p:spPr>
          <a:xfrm>
            <a:off x="8321040" y="5367528"/>
            <a:ext cx="1954822" cy="32918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66760" y="5349240"/>
            <a:ext cx="3383280" cy="347472"/>
          </a:xfrm>
          <a:prstGeom prst="rect">
            <a:avLst/>
          </a:prstGeom>
          <a:noFill/>
        </p:spPr>
        <p:txBody>
          <a:bodyPr wrap="square">
            <a:spAutoFit/>
          </a:bodyPr>
          <a:lstStyle/>
          <a:p>
            <a:pPr algn="l"/>
            <a:r>
              <a:rPr sz="1300" b="1" i="0">
                <a:solidFill>
                  <a:srgbClr val="0A1A3E"/>
                </a:solidFill>
              </a:rPr>
              <a:t>836 chunks</a:t>
            </a:r>
          </a:p>
        </p:txBody>
      </p:sp>
      <p:sp>
        <p:nvSpPr>
          <p:cNvPr id="53" name="Rectangle 52"/>
          <p:cNvSpPr/>
          <p:nvPr/>
        </p:nvSpPr>
        <p:spPr>
          <a:xfrm>
            <a:off x="274320" y="5897880"/>
            <a:ext cx="11612880" cy="50292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5760" y="5916168"/>
            <a:ext cx="11430000" cy="457200"/>
          </a:xfrm>
          <a:prstGeom prst="rect">
            <a:avLst/>
          </a:prstGeom>
          <a:noFill/>
        </p:spPr>
        <p:txBody>
          <a:bodyPr wrap="square">
            <a:spAutoFit/>
          </a:bodyPr>
          <a:lstStyle/>
          <a:p>
            <a:pPr algn="ctr"/>
            <a:r>
              <a:rPr sz="1500" b="1" i="0">
                <a:solidFill>
                  <a:srgbClr val="0A1A3E"/>
                </a:solidFill>
              </a:rPr>
              <a:t>TOTAL:  148 documentos  ·  3 861 chunks  ·  Chunking por artículo (unidad semántica completa)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Evaluación del Agente</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RAGAS automático + evaluación manual experta en 20 casos de prueba</a:t>
            </a:r>
          </a:p>
        </p:txBody>
      </p:sp>
      <p:sp>
        <p:nvSpPr>
          <p:cNvPr id="5" name="Rectangle 4"/>
          <p:cNvSpPr/>
          <p:nvPr/>
        </p:nvSpPr>
        <p:spPr>
          <a:xfrm>
            <a:off x="274320" y="1463040"/>
            <a:ext cx="3657600" cy="128016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508760"/>
            <a:ext cx="3429000" cy="411480"/>
          </a:xfrm>
          <a:prstGeom prst="rect">
            <a:avLst/>
          </a:prstGeom>
          <a:noFill/>
        </p:spPr>
        <p:txBody>
          <a:bodyPr wrap="square">
            <a:spAutoFit/>
          </a:bodyPr>
          <a:lstStyle/>
          <a:p>
            <a:pPr algn="l"/>
            <a:r>
              <a:rPr sz="1700" b="1" i="0">
                <a:solidFill>
                  <a:srgbClr val="D4A017"/>
                </a:solidFill>
              </a:rPr>
              <a:t>👮 Especialista SUNAT</a:t>
            </a:r>
          </a:p>
        </p:txBody>
      </p:sp>
      <p:sp>
        <p:nvSpPr>
          <p:cNvPr id="7" name="TextBox 6"/>
          <p:cNvSpPr txBox="1"/>
          <p:nvPr/>
        </p:nvSpPr>
        <p:spPr>
          <a:xfrm>
            <a:off x="384048" y="1920240"/>
            <a:ext cx="3429000" cy="274320"/>
          </a:xfrm>
          <a:prstGeom prst="rect">
            <a:avLst/>
          </a:prstGeom>
          <a:noFill/>
        </p:spPr>
        <p:txBody>
          <a:bodyPr wrap="square">
            <a:spAutoFit/>
          </a:bodyPr>
          <a:lstStyle/>
          <a:p>
            <a:pPr algn="l"/>
            <a:r>
              <a:rPr sz="2200" b="1" i="0">
                <a:solidFill>
                  <a:srgbClr val="FFFFFF"/>
                </a:solidFill>
              </a:rPr>
              <a:t>7 casos</a:t>
            </a:r>
          </a:p>
        </p:txBody>
      </p:sp>
      <p:sp>
        <p:nvSpPr>
          <p:cNvPr id="8" name="TextBox 7"/>
          <p:cNvSpPr txBox="1"/>
          <p:nvPr/>
        </p:nvSpPr>
        <p:spPr>
          <a:xfrm>
            <a:off x="384048" y="2240280"/>
            <a:ext cx="3429000" cy="411480"/>
          </a:xfrm>
          <a:prstGeom prst="rect">
            <a:avLst/>
          </a:prstGeom>
          <a:noFill/>
        </p:spPr>
        <p:txBody>
          <a:bodyPr wrap="square">
            <a:spAutoFit/>
          </a:bodyPr>
          <a:lstStyle/>
          <a:p>
            <a:pPr algn="l"/>
            <a:r>
              <a:rPr sz="1300" b="0" i="0">
                <a:solidFill>
                  <a:srgbClr val="E8EEF8"/>
                </a:solidFill>
              </a:rPr>
              <a:t>Inmovilizaciones, ACE, Ley 28008</a:t>
            </a:r>
          </a:p>
        </p:txBody>
      </p:sp>
      <p:sp>
        <p:nvSpPr>
          <p:cNvPr id="9" name="Rectangle 8"/>
          <p:cNvSpPr/>
          <p:nvPr/>
        </p:nvSpPr>
        <p:spPr>
          <a:xfrm>
            <a:off x="4206240" y="1463040"/>
            <a:ext cx="3657600" cy="128016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15968" y="1508760"/>
            <a:ext cx="3429000" cy="411480"/>
          </a:xfrm>
          <a:prstGeom prst="rect">
            <a:avLst/>
          </a:prstGeom>
          <a:noFill/>
        </p:spPr>
        <p:txBody>
          <a:bodyPr wrap="square">
            <a:spAutoFit/>
          </a:bodyPr>
          <a:lstStyle/>
          <a:p>
            <a:pPr algn="l"/>
            <a:r>
              <a:rPr sz="1700" b="1" i="0">
                <a:solidFill>
                  <a:srgbClr val="D4A017"/>
                </a:solidFill>
              </a:rPr>
              <a:t>🏢 Operador de Com. Exterior</a:t>
            </a:r>
          </a:p>
        </p:txBody>
      </p:sp>
      <p:sp>
        <p:nvSpPr>
          <p:cNvPr id="11" name="TextBox 10"/>
          <p:cNvSpPr txBox="1"/>
          <p:nvPr/>
        </p:nvSpPr>
        <p:spPr>
          <a:xfrm>
            <a:off x="4315968" y="1920240"/>
            <a:ext cx="3429000" cy="274320"/>
          </a:xfrm>
          <a:prstGeom prst="rect">
            <a:avLst/>
          </a:prstGeom>
          <a:noFill/>
        </p:spPr>
        <p:txBody>
          <a:bodyPr wrap="square">
            <a:spAutoFit/>
          </a:bodyPr>
          <a:lstStyle/>
          <a:p>
            <a:pPr algn="l"/>
            <a:r>
              <a:rPr sz="2200" b="1" i="0">
                <a:solidFill>
                  <a:srgbClr val="FFFFFF"/>
                </a:solidFill>
              </a:rPr>
              <a:t>7 casos</a:t>
            </a:r>
          </a:p>
        </p:txBody>
      </p:sp>
      <p:sp>
        <p:nvSpPr>
          <p:cNvPr id="12" name="TextBox 11"/>
          <p:cNvSpPr txBox="1"/>
          <p:nvPr/>
        </p:nvSpPr>
        <p:spPr>
          <a:xfrm>
            <a:off x="4315968" y="2240280"/>
            <a:ext cx="3429000" cy="411480"/>
          </a:xfrm>
          <a:prstGeom prst="rect">
            <a:avLst/>
          </a:prstGeom>
          <a:noFill/>
        </p:spPr>
        <p:txBody>
          <a:bodyPr wrap="square">
            <a:spAutoFit/>
          </a:bodyPr>
          <a:lstStyle/>
          <a:p>
            <a:pPr algn="l"/>
            <a:r>
              <a:rPr sz="1300" b="0" i="0">
                <a:solidFill>
                  <a:srgbClr val="E8EEF8"/>
                </a:solidFill>
              </a:rPr>
              <a:t>Despacho, arancel, drawback, courier</a:t>
            </a:r>
          </a:p>
        </p:txBody>
      </p:sp>
      <p:sp>
        <p:nvSpPr>
          <p:cNvPr id="13" name="Rectangle 12"/>
          <p:cNvSpPr/>
          <p:nvPr/>
        </p:nvSpPr>
        <p:spPr>
          <a:xfrm>
            <a:off x="8138160" y="1463040"/>
            <a:ext cx="3657600" cy="128016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508760"/>
            <a:ext cx="3429000" cy="411480"/>
          </a:xfrm>
          <a:prstGeom prst="rect">
            <a:avLst/>
          </a:prstGeom>
          <a:noFill/>
        </p:spPr>
        <p:txBody>
          <a:bodyPr wrap="square">
            <a:spAutoFit/>
          </a:bodyPr>
          <a:lstStyle/>
          <a:p>
            <a:pPr algn="l"/>
            <a:r>
              <a:rPr sz="1700" b="1" i="0">
                <a:solidFill>
                  <a:srgbClr val="D4A017"/>
                </a:solidFill>
              </a:rPr>
              <a:t>👤 Ciudadano</a:t>
            </a:r>
          </a:p>
        </p:txBody>
      </p:sp>
      <p:sp>
        <p:nvSpPr>
          <p:cNvPr id="15" name="TextBox 14"/>
          <p:cNvSpPr txBox="1"/>
          <p:nvPr/>
        </p:nvSpPr>
        <p:spPr>
          <a:xfrm>
            <a:off x="8247888" y="1920240"/>
            <a:ext cx="3429000" cy="274320"/>
          </a:xfrm>
          <a:prstGeom prst="rect">
            <a:avLst/>
          </a:prstGeom>
          <a:noFill/>
        </p:spPr>
        <p:txBody>
          <a:bodyPr wrap="square">
            <a:spAutoFit/>
          </a:bodyPr>
          <a:lstStyle/>
          <a:p>
            <a:pPr algn="l"/>
            <a:r>
              <a:rPr sz="2200" b="1" i="0">
                <a:solidFill>
                  <a:srgbClr val="FFFFFF"/>
                </a:solidFill>
              </a:rPr>
              <a:t>6 casos</a:t>
            </a:r>
          </a:p>
        </p:txBody>
      </p:sp>
      <p:sp>
        <p:nvSpPr>
          <p:cNvPr id="16" name="TextBox 15"/>
          <p:cNvSpPr txBox="1"/>
          <p:nvPr/>
        </p:nvSpPr>
        <p:spPr>
          <a:xfrm>
            <a:off x="8247888" y="2240280"/>
            <a:ext cx="3429000" cy="411480"/>
          </a:xfrm>
          <a:prstGeom prst="rect">
            <a:avLst/>
          </a:prstGeom>
          <a:noFill/>
        </p:spPr>
        <p:txBody>
          <a:bodyPr wrap="square">
            <a:spAutoFit/>
          </a:bodyPr>
          <a:lstStyle/>
          <a:p>
            <a:pPr algn="l"/>
            <a:r>
              <a:rPr sz="1300" b="0" i="0">
                <a:solidFill>
                  <a:srgbClr val="E8EEF8"/>
                </a:solidFill>
              </a:rPr>
              <a:t>Equipaje, envíos, orientación general</a:t>
            </a:r>
          </a:p>
        </p:txBody>
      </p:sp>
      <p:sp>
        <p:nvSpPr>
          <p:cNvPr id="17" name="TextBox 16"/>
          <p:cNvSpPr txBox="1"/>
          <p:nvPr/>
        </p:nvSpPr>
        <p:spPr>
          <a:xfrm>
            <a:off x="274320" y="2926080"/>
            <a:ext cx="5486400" cy="347472"/>
          </a:xfrm>
          <a:prstGeom prst="rect">
            <a:avLst/>
          </a:prstGeom>
          <a:noFill/>
        </p:spPr>
        <p:txBody>
          <a:bodyPr wrap="square">
            <a:spAutoFit/>
          </a:bodyPr>
          <a:lstStyle/>
          <a:p>
            <a:pPr algn="l"/>
            <a:r>
              <a:rPr sz="1600" b="1" i="0">
                <a:solidFill>
                  <a:srgbClr val="D4A017"/>
                </a:solidFill>
              </a:rPr>
              <a:t>Métricas RAGAS evaluadas:</a:t>
            </a:r>
          </a:p>
        </p:txBody>
      </p:sp>
      <p:sp>
        <p:nvSpPr>
          <p:cNvPr id="18" name="Rectangle 17"/>
          <p:cNvSpPr/>
          <p:nvPr/>
        </p:nvSpPr>
        <p:spPr>
          <a:xfrm>
            <a:off x="274320" y="3337560"/>
            <a:ext cx="5486400" cy="566928"/>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374136"/>
            <a:ext cx="2011680" cy="320040"/>
          </a:xfrm>
          <a:prstGeom prst="rect">
            <a:avLst/>
          </a:prstGeom>
          <a:noFill/>
        </p:spPr>
        <p:txBody>
          <a:bodyPr wrap="square">
            <a:spAutoFit/>
          </a:bodyPr>
          <a:lstStyle/>
          <a:p>
            <a:pPr algn="l"/>
            <a:r>
              <a:rPr sz="1400" b="1" i="0">
                <a:solidFill>
                  <a:srgbClr val="1ABC9C"/>
                </a:solidFill>
              </a:rPr>
              <a:t>context_recall</a:t>
            </a:r>
          </a:p>
        </p:txBody>
      </p:sp>
      <p:sp>
        <p:nvSpPr>
          <p:cNvPr id="20" name="TextBox 19"/>
          <p:cNvSpPr txBox="1"/>
          <p:nvPr/>
        </p:nvSpPr>
        <p:spPr>
          <a:xfrm>
            <a:off x="2468880" y="3374136"/>
            <a:ext cx="3200400" cy="502920"/>
          </a:xfrm>
          <a:prstGeom prst="rect">
            <a:avLst/>
          </a:prstGeom>
          <a:noFill/>
        </p:spPr>
        <p:txBody>
          <a:bodyPr wrap="square">
            <a:spAutoFit/>
          </a:bodyPr>
          <a:lstStyle/>
          <a:p>
            <a:pPr algn="l"/>
            <a:r>
              <a:rPr sz="1300" b="0" i="0">
                <a:solidFill>
                  <a:srgbClr val="E8EEF8"/>
                </a:solidFill>
              </a:rPr>
              <a:t>El contexto recuperado cubre la respuesta de referencia</a:t>
            </a:r>
          </a:p>
        </p:txBody>
      </p:sp>
      <p:sp>
        <p:nvSpPr>
          <p:cNvPr id="21" name="Rectangle 20"/>
          <p:cNvSpPr/>
          <p:nvPr/>
        </p:nvSpPr>
        <p:spPr>
          <a:xfrm>
            <a:off x="274320" y="3977640"/>
            <a:ext cx="5486400" cy="566928"/>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4014216"/>
            <a:ext cx="2011680" cy="320040"/>
          </a:xfrm>
          <a:prstGeom prst="rect">
            <a:avLst/>
          </a:prstGeom>
          <a:noFill/>
        </p:spPr>
        <p:txBody>
          <a:bodyPr wrap="square">
            <a:spAutoFit/>
          </a:bodyPr>
          <a:lstStyle/>
          <a:p>
            <a:pPr algn="l"/>
            <a:r>
              <a:rPr sz="1400" b="1" i="0">
                <a:solidFill>
                  <a:srgbClr val="1ABC9C"/>
                </a:solidFill>
              </a:rPr>
              <a:t>context_precision</a:t>
            </a:r>
          </a:p>
        </p:txBody>
      </p:sp>
      <p:sp>
        <p:nvSpPr>
          <p:cNvPr id="23" name="TextBox 22"/>
          <p:cNvSpPr txBox="1"/>
          <p:nvPr/>
        </p:nvSpPr>
        <p:spPr>
          <a:xfrm>
            <a:off x="2468880" y="4014216"/>
            <a:ext cx="3200400" cy="502920"/>
          </a:xfrm>
          <a:prstGeom prst="rect">
            <a:avLst/>
          </a:prstGeom>
          <a:noFill/>
        </p:spPr>
        <p:txBody>
          <a:bodyPr wrap="square">
            <a:spAutoFit/>
          </a:bodyPr>
          <a:lstStyle/>
          <a:p>
            <a:pPr algn="l"/>
            <a:r>
              <a:rPr sz="1300" b="0" i="0">
                <a:solidFill>
                  <a:srgbClr val="E8EEF8"/>
                </a:solidFill>
              </a:rPr>
              <a:t>El contexto es preciso y sin ruido</a:t>
            </a:r>
          </a:p>
        </p:txBody>
      </p:sp>
      <p:sp>
        <p:nvSpPr>
          <p:cNvPr id="24" name="Rectangle 23"/>
          <p:cNvSpPr/>
          <p:nvPr/>
        </p:nvSpPr>
        <p:spPr>
          <a:xfrm>
            <a:off x="274320" y="4617720"/>
            <a:ext cx="5486400" cy="566928"/>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4654296"/>
            <a:ext cx="2011680" cy="320040"/>
          </a:xfrm>
          <a:prstGeom prst="rect">
            <a:avLst/>
          </a:prstGeom>
          <a:noFill/>
        </p:spPr>
        <p:txBody>
          <a:bodyPr wrap="square">
            <a:spAutoFit/>
          </a:bodyPr>
          <a:lstStyle/>
          <a:p>
            <a:pPr algn="l"/>
            <a:r>
              <a:rPr sz="1400" b="1" i="0">
                <a:solidFill>
                  <a:srgbClr val="1ABC9C"/>
                </a:solidFill>
              </a:rPr>
              <a:t>answer_relevancy</a:t>
            </a:r>
          </a:p>
        </p:txBody>
      </p:sp>
      <p:sp>
        <p:nvSpPr>
          <p:cNvPr id="26" name="TextBox 25"/>
          <p:cNvSpPr txBox="1"/>
          <p:nvPr/>
        </p:nvSpPr>
        <p:spPr>
          <a:xfrm>
            <a:off x="2468880" y="4654296"/>
            <a:ext cx="3200400" cy="502920"/>
          </a:xfrm>
          <a:prstGeom prst="rect">
            <a:avLst/>
          </a:prstGeom>
          <a:noFill/>
        </p:spPr>
        <p:txBody>
          <a:bodyPr wrap="square">
            <a:spAutoFit/>
          </a:bodyPr>
          <a:lstStyle/>
          <a:p>
            <a:pPr algn="l"/>
            <a:r>
              <a:rPr sz="1300" b="0" i="0">
                <a:solidFill>
                  <a:srgbClr val="E8EEF8"/>
                </a:solidFill>
              </a:rPr>
              <a:t>La respuesta responde directamente la pregunta</a:t>
            </a:r>
          </a:p>
        </p:txBody>
      </p:sp>
      <p:sp>
        <p:nvSpPr>
          <p:cNvPr id="27" name="Rectangle 26"/>
          <p:cNvSpPr/>
          <p:nvPr/>
        </p:nvSpPr>
        <p:spPr>
          <a:xfrm>
            <a:off x="5943600" y="2926080"/>
            <a:ext cx="5943600" cy="2606040"/>
          </a:xfrm>
          <a:prstGeom prst="rect">
            <a:avLst/>
          </a:prstGeom>
          <a:solidFill>
            <a:srgbClr val="18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0760" y="2999232"/>
            <a:ext cx="5669280" cy="347472"/>
          </a:xfrm>
          <a:prstGeom prst="rect">
            <a:avLst/>
          </a:prstGeom>
          <a:noFill/>
        </p:spPr>
        <p:txBody>
          <a:bodyPr wrap="square">
            <a:spAutoFit/>
          </a:bodyPr>
          <a:lstStyle/>
          <a:p>
            <a:pPr algn="l"/>
            <a:r>
              <a:rPr sz="1400" b="1" i="0">
                <a:solidFill>
                  <a:srgbClr val="D4A017"/>
                </a:solidFill>
              </a:rPr>
              <a:t>⚠️  Nota metodológica</a:t>
            </a:r>
          </a:p>
        </p:txBody>
      </p:sp>
      <p:sp>
        <p:nvSpPr>
          <p:cNvPr id="29" name="TextBox 28"/>
          <p:cNvSpPr txBox="1"/>
          <p:nvPr/>
        </p:nvSpPr>
        <p:spPr>
          <a:xfrm>
            <a:off x="6080760" y="3383280"/>
            <a:ext cx="5669280" cy="2011680"/>
          </a:xfrm>
          <a:prstGeom prst="rect">
            <a:avLst/>
          </a:prstGeom>
          <a:noFill/>
        </p:spPr>
        <p:txBody>
          <a:bodyPr wrap="square">
            <a:spAutoFit/>
          </a:bodyPr>
          <a:lstStyle/>
          <a:p>
            <a:pPr algn="l"/>
            <a:r>
              <a:rPr sz="1300" b="0" i="0">
                <a:solidFill>
                  <a:srgbClr val="E8EEF8"/>
                </a:solidFill>
              </a:rPr>
              <a:t>RAGAS fue diseñado para inglés y requiere un LLM juez de alta capacidad (GPT-4 o equivalente). En este proyecto se usa Llama 3.1 8B como juez, lo que puede subestimar los scores reales.
Los resultados RAGAS deben interpretarse como referencia relativa, no como medición absoluta. La evaluación manual experta complementa esta limitación.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109728"/>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502920"/>
            <a:ext cx="11247120" cy="640080"/>
          </a:xfrm>
          <a:prstGeom prst="rect">
            <a:avLst/>
          </a:prstGeom>
          <a:noFill/>
        </p:spPr>
        <p:txBody>
          <a:bodyPr wrap="square">
            <a:spAutoFit/>
          </a:bodyPr>
          <a:lstStyle/>
          <a:p>
            <a:pPr algn="l"/>
            <a:r>
              <a:rPr sz="3200" b="1" i="0">
                <a:solidFill>
                  <a:srgbClr val="FFFFFF"/>
                </a:solidFill>
              </a:rPr>
              <a:t>Interfaz y Ejemplos de Consultas</a:t>
            </a:r>
          </a:p>
        </p:txBody>
      </p:sp>
      <p:sp>
        <p:nvSpPr>
          <p:cNvPr id="4" name="TextBox 3"/>
          <p:cNvSpPr txBox="1"/>
          <p:nvPr/>
        </p:nvSpPr>
        <p:spPr>
          <a:xfrm>
            <a:off x="457200" y="1097280"/>
            <a:ext cx="11247120" cy="365760"/>
          </a:xfrm>
          <a:prstGeom prst="rect">
            <a:avLst/>
          </a:prstGeom>
          <a:noFill/>
        </p:spPr>
        <p:txBody>
          <a:bodyPr wrap="square">
            <a:spAutoFit/>
          </a:bodyPr>
          <a:lstStyle/>
          <a:p>
            <a:pPr algn="l"/>
            <a:r>
              <a:rPr sz="1600" b="0" i="0">
                <a:solidFill>
                  <a:srgbClr val="E8EEF8"/>
                </a:solidFill>
              </a:rPr>
              <a:t>Streamlit Community Cloud con streaming, badge de dominio y tiempo de respuesta</a:t>
            </a:r>
          </a:p>
        </p:txBody>
      </p:sp>
      <p:sp>
        <p:nvSpPr>
          <p:cNvPr id="5" name="Rectangle 4"/>
          <p:cNvSpPr/>
          <p:nvPr/>
        </p:nvSpPr>
        <p:spPr>
          <a:xfrm>
            <a:off x="274320" y="1463040"/>
            <a:ext cx="5577840" cy="228600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536192"/>
            <a:ext cx="5349240" cy="502920"/>
          </a:xfrm>
          <a:prstGeom prst="rect">
            <a:avLst/>
          </a:prstGeom>
          <a:noFill/>
        </p:spPr>
        <p:txBody>
          <a:bodyPr wrap="square">
            <a:spAutoFit/>
          </a:bodyPr>
          <a:lstStyle/>
          <a:p>
            <a:pPr algn="l"/>
            <a:r>
              <a:rPr sz="1300" b="1" i="0">
                <a:solidFill>
                  <a:srgbClr val="D4A017"/>
                </a:solidFill>
              </a:rPr>
              <a:t>👮 Especialista SUNAT
(Dominio: DELITOS)</a:t>
            </a:r>
          </a:p>
        </p:txBody>
      </p:sp>
      <p:sp>
        <p:nvSpPr>
          <p:cNvPr id="7" name="Rectangle 6"/>
          <p:cNvSpPr/>
          <p:nvPr/>
        </p:nvSpPr>
        <p:spPr>
          <a:xfrm>
            <a:off x="384048" y="2057400"/>
            <a:ext cx="5349240" cy="3657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2148840"/>
            <a:ext cx="5349240" cy="502920"/>
          </a:xfrm>
          <a:prstGeom prst="rect">
            <a:avLst/>
          </a:prstGeom>
          <a:noFill/>
        </p:spPr>
        <p:txBody>
          <a:bodyPr wrap="square">
            <a:spAutoFit/>
          </a:bodyPr>
          <a:lstStyle/>
          <a:p>
            <a:pPr algn="l"/>
            <a:r>
              <a:rPr sz="1300" b="0" i="1">
                <a:solidFill>
                  <a:srgbClr val="E8EEF8"/>
                </a:solidFill>
              </a:rPr>
              <a:t>❓ ¿Cuáles son las modalidades del contrabando según la Ley 28008?</a:t>
            </a:r>
          </a:p>
        </p:txBody>
      </p:sp>
      <p:sp>
        <p:nvSpPr>
          <p:cNvPr id="9" name="TextBox 8"/>
          <p:cNvSpPr txBox="1"/>
          <p:nvPr/>
        </p:nvSpPr>
        <p:spPr>
          <a:xfrm>
            <a:off x="384048" y="2697480"/>
            <a:ext cx="5349240" cy="914400"/>
          </a:xfrm>
          <a:prstGeom prst="rect">
            <a:avLst/>
          </a:prstGeom>
          <a:noFill/>
        </p:spPr>
        <p:txBody>
          <a:bodyPr wrap="square">
            <a:spAutoFit/>
          </a:bodyPr>
          <a:lstStyle/>
          <a:p>
            <a:pPr algn="l"/>
            <a:r>
              <a:rPr sz="1200" b="0" i="0">
                <a:solidFill>
                  <a:srgbClr val="FFFFFF"/>
                </a:solidFill>
              </a:rPr>
              <a:t>✅ Art. 8 Ley 28008: El contrabando se presenta en modalidad simple cuando...</a:t>
            </a:r>
          </a:p>
        </p:txBody>
      </p:sp>
      <p:sp>
        <p:nvSpPr>
          <p:cNvPr id="10" name="Rectangle 9"/>
          <p:cNvSpPr/>
          <p:nvPr/>
        </p:nvSpPr>
        <p:spPr>
          <a:xfrm>
            <a:off x="6217920" y="1463040"/>
            <a:ext cx="5577840" cy="228600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1536192"/>
            <a:ext cx="5349240" cy="502920"/>
          </a:xfrm>
          <a:prstGeom prst="rect">
            <a:avLst/>
          </a:prstGeom>
          <a:noFill/>
        </p:spPr>
        <p:txBody>
          <a:bodyPr wrap="square">
            <a:spAutoFit/>
          </a:bodyPr>
          <a:lstStyle/>
          <a:p>
            <a:pPr algn="l"/>
            <a:r>
              <a:rPr sz="1300" b="1" i="0">
                <a:solidFill>
                  <a:srgbClr val="D4A017"/>
                </a:solidFill>
              </a:rPr>
              <a:t>🏢 Operador OCE
(Dominio: DESPACHO)</a:t>
            </a:r>
          </a:p>
        </p:txBody>
      </p:sp>
      <p:sp>
        <p:nvSpPr>
          <p:cNvPr id="12" name="Rectangle 11"/>
          <p:cNvSpPr/>
          <p:nvPr/>
        </p:nvSpPr>
        <p:spPr>
          <a:xfrm>
            <a:off x="6327648" y="2057400"/>
            <a:ext cx="5349240" cy="3657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27648" y="2148840"/>
            <a:ext cx="5349240" cy="502920"/>
          </a:xfrm>
          <a:prstGeom prst="rect">
            <a:avLst/>
          </a:prstGeom>
          <a:noFill/>
        </p:spPr>
        <p:txBody>
          <a:bodyPr wrap="square">
            <a:spAutoFit/>
          </a:bodyPr>
          <a:lstStyle/>
          <a:p>
            <a:pPr algn="l"/>
            <a:r>
              <a:rPr sz="1300" b="0" i="1">
                <a:solidFill>
                  <a:srgbClr val="E8EEF8"/>
                </a:solidFill>
              </a:rPr>
              <a:t>❓ ¿Cuánto pago de arancel por importar laptops desde China?</a:t>
            </a:r>
          </a:p>
        </p:txBody>
      </p:sp>
      <p:sp>
        <p:nvSpPr>
          <p:cNvPr id="14" name="TextBox 13"/>
          <p:cNvSpPr txBox="1"/>
          <p:nvPr/>
        </p:nvSpPr>
        <p:spPr>
          <a:xfrm>
            <a:off x="6327648" y="2697480"/>
            <a:ext cx="5349240" cy="914400"/>
          </a:xfrm>
          <a:prstGeom prst="rect">
            <a:avLst/>
          </a:prstGeom>
          <a:noFill/>
        </p:spPr>
        <p:txBody>
          <a:bodyPr wrap="square">
            <a:spAutoFit/>
          </a:bodyPr>
          <a:lstStyle/>
          <a:p>
            <a:pPr algn="l"/>
            <a:r>
              <a:rPr sz="1200" b="0" i="0">
                <a:solidFill>
                  <a:srgbClr val="FFFFFF"/>
                </a:solidFill>
              </a:rPr>
              <a:t>✅ Partida 8471.30: derecho ad valorem 0% — libre de arancel según Arancel 2022...</a:t>
            </a:r>
          </a:p>
        </p:txBody>
      </p:sp>
      <p:sp>
        <p:nvSpPr>
          <p:cNvPr id="15" name="Rectangle 14"/>
          <p:cNvSpPr/>
          <p:nvPr/>
        </p:nvSpPr>
        <p:spPr>
          <a:xfrm>
            <a:off x="274320" y="3931920"/>
            <a:ext cx="5577840" cy="228600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4005072"/>
            <a:ext cx="5349240" cy="502920"/>
          </a:xfrm>
          <a:prstGeom prst="rect">
            <a:avLst/>
          </a:prstGeom>
          <a:noFill/>
        </p:spPr>
        <p:txBody>
          <a:bodyPr wrap="square">
            <a:spAutoFit/>
          </a:bodyPr>
          <a:lstStyle/>
          <a:p>
            <a:pPr algn="l"/>
            <a:r>
              <a:rPr sz="1300" b="1" i="0">
                <a:solidFill>
                  <a:srgbClr val="D4A017"/>
                </a:solidFill>
              </a:rPr>
              <a:t>👤 Ciudadano
(Dominio: ORIENTACIÓN)</a:t>
            </a:r>
          </a:p>
        </p:txBody>
      </p:sp>
      <p:sp>
        <p:nvSpPr>
          <p:cNvPr id="17" name="Rectangle 16"/>
          <p:cNvSpPr/>
          <p:nvPr/>
        </p:nvSpPr>
        <p:spPr>
          <a:xfrm>
            <a:off x="384048" y="4526280"/>
            <a:ext cx="5349240" cy="3657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4617720"/>
            <a:ext cx="5349240" cy="502920"/>
          </a:xfrm>
          <a:prstGeom prst="rect">
            <a:avLst/>
          </a:prstGeom>
          <a:noFill/>
        </p:spPr>
        <p:txBody>
          <a:bodyPr wrap="square">
            <a:spAutoFit/>
          </a:bodyPr>
          <a:lstStyle/>
          <a:p>
            <a:pPr algn="l"/>
            <a:r>
              <a:rPr sz="1300" b="0" i="1">
                <a:solidFill>
                  <a:srgbClr val="E8EEF8"/>
                </a:solidFill>
              </a:rPr>
              <a:t>❓ ¿Cuánto equipaje puedo traer del extranjero sin pagar impuestos?</a:t>
            </a:r>
          </a:p>
        </p:txBody>
      </p:sp>
      <p:sp>
        <p:nvSpPr>
          <p:cNvPr id="19" name="TextBox 18"/>
          <p:cNvSpPr txBox="1"/>
          <p:nvPr/>
        </p:nvSpPr>
        <p:spPr>
          <a:xfrm>
            <a:off x="384048" y="5166360"/>
            <a:ext cx="5349240" cy="914400"/>
          </a:xfrm>
          <a:prstGeom prst="rect">
            <a:avLst/>
          </a:prstGeom>
          <a:noFill/>
        </p:spPr>
        <p:txBody>
          <a:bodyPr wrap="square">
            <a:spAutoFit/>
          </a:bodyPr>
          <a:lstStyle/>
          <a:p>
            <a:pPr algn="l"/>
            <a:r>
              <a:rPr sz="1200" b="0" i="0">
                <a:solidFill>
                  <a:srgbClr val="FFFFFF"/>
                </a:solidFill>
              </a:rPr>
              <a:t>✅ Art. 8 DS 182-2013-EF: franquicia hasta USD 500 para mayores de 18 años...</a:t>
            </a:r>
          </a:p>
        </p:txBody>
      </p:sp>
      <p:sp>
        <p:nvSpPr>
          <p:cNvPr id="20" name="Rectangle 19"/>
          <p:cNvSpPr/>
          <p:nvPr/>
        </p:nvSpPr>
        <p:spPr>
          <a:xfrm>
            <a:off x="6217920" y="3931920"/>
            <a:ext cx="5577840" cy="228600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7648" y="4005072"/>
            <a:ext cx="5349240" cy="502920"/>
          </a:xfrm>
          <a:prstGeom prst="rect">
            <a:avLst/>
          </a:prstGeom>
          <a:noFill/>
        </p:spPr>
        <p:txBody>
          <a:bodyPr wrap="square">
            <a:spAutoFit/>
          </a:bodyPr>
          <a:lstStyle/>
          <a:p>
            <a:pPr algn="l"/>
            <a:r>
              <a:rPr sz="1300" b="1" i="0">
                <a:solidFill>
                  <a:srgbClr val="D4A017"/>
                </a:solidFill>
              </a:rPr>
              <a:t>🔎 Especialista ACE
(Dominio: CONTROL)</a:t>
            </a:r>
          </a:p>
        </p:txBody>
      </p:sp>
      <p:sp>
        <p:nvSpPr>
          <p:cNvPr id="22" name="Rectangle 21"/>
          <p:cNvSpPr/>
          <p:nvPr/>
        </p:nvSpPr>
        <p:spPr>
          <a:xfrm>
            <a:off x="6327648" y="4526280"/>
            <a:ext cx="5349240" cy="3657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4617720"/>
            <a:ext cx="5349240" cy="502920"/>
          </a:xfrm>
          <a:prstGeom prst="rect">
            <a:avLst/>
          </a:prstGeom>
          <a:noFill/>
        </p:spPr>
        <p:txBody>
          <a:bodyPr wrap="square">
            <a:spAutoFit/>
          </a:bodyPr>
          <a:lstStyle/>
          <a:p>
            <a:pPr algn="l"/>
            <a:r>
              <a:rPr sz="1300" b="0" i="1">
                <a:solidFill>
                  <a:srgbClr val="E8EEF8"/>
                </a:solidFill>
              </a:rPr>
              <a:t>❓ ¿Cuál es el procedimiento para inmovilizar una mercancía en una ACE?</a:t>
            </a:r>
          </a:p>
        </p:txBody>
      </p:sp>
      <p:sp>
        <p:nvSpPr>
          <p:cNvPr id="24" name="TextBox 23"/>
          <p:cNvSpPr txBox="1"/>
          <p:nvPr/>
        </p:nvSpPr>
        <p:spPr>
          <a:xfrm>
            <a:off x="6327648" y="5166360"/>
            <a:ext cx="5349240" cy="914400"/>
          </a:xfrm>
          <a:prstGeom prst="rect">
            <a:avLst/>
          </a:prstGeom>
          <a:noFill/>
        </p:spPr>
        <p:txBody>
          <a:bodyPr wrap="square">
            <a:spAutoFit/>
          </a:bodyPr>
          <a:lstStyle/>
          <a:p>
            <a:pPr algn="l"/>
            <a:r>
              <a:rPr sz="1200" b="0" i="0">
                <a:solidFill>
                  <a:srgbClr val="FFFFFF"/>
                </a:solidFill>
              </a:rPr>
              <a:t>✅ CONTROL-PG.02 sección 7.2: el funcionario levanta acta de inmovilización...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A3E"/>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
            <a:ext cx="12188952" cy="54864"/>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28600"/>
            <a:ext cx="11155680" cy="640080"/>
          </a:xfrm>
          <a:prstGeom prst="rect">
            <a:avLst/>
          </a:prstGeom>
          <a:noFill/>
        </p:spPr>
        <p:txBody>
          <a:bodyPr wrap="square">
            <a:spAutoFit/>
          </a:bodyPr>
          <a:lstStyle/>
          <a:p>
            <a:pPr algn="l"/>
            <a:r>
              <a:rPr sz="3400" b="1" i="0">
                <a:solidFill>
                  <a:srgbClr val="FFFFFF"/>
                </a:solidFill>
              </a:rPr>
              <a:t>Conclusiones y Próximos Pasos</a:t>
            </a:r>
          </a:p>
        </p:txBody>
      </p:sp>
      <p:sp>
        <p:nvSpPr>
          <p:cNvPr id="5" name="Rectangle 4"/>
          <p:cNvSpPr/>
          <p:nvPr/>
        </p:nvSpPr>
        <p:spPr>
          <a:xfrm>
            <a:off x="640080" y="868680"/>
            <a:ext cx="8229600" cy="36576"/>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987552"/>
            <a:ext cx="7772400" cy="502920"/>
          </a:xfrm>
          <a:prstGeom prst="rect">
            <a:avLst/>
          </a:prstGeom>
          <a:noFill/>
        </p:spPr>
        <p:txBody>
          <a:bodyPr wrap="square">
            <a:spAutoFit/>
          </a:bodyPr>
          <a:lstStyle/>
          <a:p>
            <a:pPr algn="l"/>
            <a:r>
              <a:rPr sz="1500" b="0" i="0">
                <a:solidFill>
                  <a:srgbClr val="FFFFFF"/>
                </a:solidFill>
              </a:rPr>
              <a:t>✅  Agente RAG multidominio operativo con 7 nodos LangGraph y aristas condicionales</a:t>
            </a:r>
          </a:p>
        </p:txBody>
      </p:sp>
      <p:sp>
        <p:nvSpPr>
          <p:cNvPr id="7" name="TextBox 6"/>
          <p:cNvSpPr txBox="1"/>
          <p:nvPr/>
        </p:nvSpPr>
        <p:spPr>
          <a:xfrm>
            <a:off x="640080" y="1536192"/>
            <a:ext cx="7772400" cy="502920"/>
          </a:xfrm>
          <a:prstGeom prst="rect">
            <a:avLst/>
          </a:prstGeom>
          <a:noFill/>
        </p:spPr>
        <p:txBody>
          <a:bodyPr wrap="square">
            <a:spAutoFit/>
          </a:bodyPr>
          <a:lstStyle/>
          <a:p>
            <a:pPr algn="l"/>
            <a:r>
              <a:rPr sz="1500" b="0" i="0">
                <a:solidFill>
                  <a:srgbClr val="FFFFFF"/>
                </a:solidFill>
              </a:rPr>
              <a:t>✅  Streaming token a token — latencia percibida ~0.5 s</a:t>
            </a:r>
          </a:p>
        </p:txBody>
      </p:sp>
      <p:sp>
        <p:nvSpPr>
          <p:cNvPr id="8" name="TextBox 7"/>
          <p:cNvSpPr txBox="1"/>
          <p:nvPr/>
        </p:nvSpPr>
        <p:spPr>
          <a:xfrm>
            <a:off x="640080" y="2084832"/>
            <a:ext cx="7772400" cy="502920"/>
          </a:xfrm>
          <a:prstGeom prst="rect">
            <a:avLst/>
          </a:prstGeom>
          <a:noFill/>
        </p:spPr>
        <p:txBody>
          <a:bodyPr wrap="square">
            <a:spAutoFit/>
          </a:bodyPr>
          <a:lstStyle/>
          <a:p>
            <a:pPr algn="l"/>
            <a:r>
              <a:rPr sz="1500" b="0" i="0">
                <a:solidFill>
                  <a:srgbClr val="FFFFFF"/>
                </a:solidFill>
              </a:rPr>
              <a:t>✅  Cadena de fallback automático: 70B → 8B → Gemini (1.6M tokens/día disponibles)</a:t>
            </a:r>
          </a:p>
        </p:txBody>
      </p:sp>
      <p:sp>
        <p:nvSpPr>
          <p:cNvPr id="9" name="TextBox 8"/>
          <p:cNvSpPr txBox="1"/>
          <p:nvPr/>
        </p:nvSpPr>
        <p:spPr>
          <a:xfrm>
            <a:off x="640080" y="2633472"/>
            <a:ext cx="7772400" cy="502920"/>
          </a:xfrm>
          <a:prstGeom prst="rect">
            <a:avLst/>
          </a:prstGeom>
          <a:noFill/>
        </p:spPr>
        <p:txBody>
          <a:bodyPr wrap="square">
            <a:spAutoFit/>
          </a:bodyPr>
          <a:lstStyle/>
          <a:p>
            <a:pPr algn="l"/>
            <a:r>
              <a:rPr sz="1500" b="0" i="0">
                <a:solidFill>
                  <a:srgbClr val="FFFFFF"/>
                </a:solidFill>
              </a:rPr>
              <a:t>✅  Base de conocimiento: 148 documentos, 3 861 chunks semánticos en Qdrant Cloud</a:t>
            </a:r>
          </a:p>
        </p:txBody>
      </p:sp>
      <p:sp>
        <p:nvSpPr>
          <p:cNvPr id="10" name="TextBox 9"/>
          <p:cNvSpPr txBox="1"/>
          <p:nvPr/>
        </p:nvSpPr>
        <p:spPr>
          <a:xfrm>
            <a:off x="640080" y="3182112"/>
            <a:ext cx="7772400" cy="502920"/>
          </a:xfrm>
          <a:prstGeom prst="rect">
            <a:avLst/>
          </a:prstGeom>
          <a:noFill/>
        </p:spPr>
        <p:txBody>
          <a:bodyPr wrap="square">
            <a:spAutoFit/>
          </a:bodyPr>
          <a:lstStyle/>
          <a:p>
            <a:pPr algn="l"/>
            <a:r>
              <a:rPr sz="1500" b="0" i="0">
                <a:solidFill>
                  <a:srgbClr val="FFFFFF"/>
                </a:solidFill>
              </a:rPr>
              <a:t>✅  Observabilidad completa vía Langfuse Cloud — trazas, latencia y scores</a:t>
            </a:r>
          </a:p>
        </p:txBody>
      </p:sp>
      <p:sp>
        <p:nvSpPr>
          <p:cNvPr id="11" name="TextBox 10"/>
          <p:cNvSpPr txBox="1"/>
          <p:nvPr/>
        </p:nvSpPr>
        <p:spPr>
          <a:xfrm>
            <a:off x="640080" y="3730752"/>
            <a:ext cx="7772400" cy="502920"/>
          </a:xfrm>
          <a:prstGeom prst="rect">
            <a:avLst/>
          </a:prstGeom>
          <a:noFill/>
        </p:spPr>
        <p:txBody>
          <a:bodyPr wrap="square">
            <a:spAutoFit/>
          </a:bodyPr>
          <a:lstStyle/>
          <a:p>
            <a:pPr algn="l"/>
            <a:r>
              <a:rPr sz="1500" b="0" i="0">
                <a:solidFill>
                  <a:srgbClr val="FFFFFF"/>
                </a:solidFill>
              </a:rPr>
              <a:t>✅  Evaluación con RAGAS + 20 casos manuales distribuidos en 3 perfiles de usuario</a:t>
            </a:r>
          </a:p>
        </p:txBody>
      </p:sp>
      <p:sp>
        <p:nvSpPr>
          <p:cNvPr id="12" name="TextBox 11"/>
          <p:cNvSpPr txBox="1"/>
          <p:nvPr/>
        </p:nvSpPr>
        <p:spPr>
          <a:xfrm>
            <a:off x="640080" y="4279392"/>
            <a:ext cx="7772400" cy="502920"/>
          </a:xfrm>
          <a:prstGeom prst="rect">
            <a:avLst/>
          </a:prstGeom>
          <a:noFill/>
        </p:spPr>
        <p:txBody>
          <a:bodyPr wrap="square">
            <a:spAutoFit/>
          </a:bodyPr>
          <a:lstStyle/>
          <a:p>
            <a:pPr algn="l"/>
            <a:r>
              <a:rPr sz="1500" b="0" i="0">
                <a:solidFill>
                  <a:srgbClr val="FFFFFF"/>
                </a:solidFill>
              </a:rPr>
              <a:t>✅  Costo total del proyecto: S/. 0.00 — 100% gratuito y open source</a:t>
            </a:r>
          </a:p>
        </p:txBody>
      </p:sp>
      <p:sp>
        <p:nvSpPr>
          <p:cNvPr id="13" name="Rectangle 12"/>
          <p:cNvSpPr/>
          <p:nvPr/>
        </p:nvSpPr>
        <p:spPr>
          <a:xfrm>
            <a:off x="8686800" y="914400"/>
            <a:ext cx="3200400" cy="53035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1005840"/>
            <a:ext cx="3017520" cy="365760"/>
          </a:xfrm>
          <a:prstGeom prst="rect">
            <a:avLst/>
          </a:prstGeom>
          <a:noFill/>
        </p:spPr>
        <p:txBody>
          <a:bodyPr wrap="square">
            <a:spAutoFit/>
          </a:bodyPr>
          <a:lstStyle/>
          <a:p>
            <a:pPr algn="l"/>
            <a:r>
              <a:rPr sz="1600" b="1" i="0">
                <a:solidFill>
                  <a:srgbClr val="D4A017"/>
                </a:solidFill>
              </a:rPr>
              <a:t>Próximos pasos</a:t>
            </a:r>
          </a:p>
        </p:txBody>
      </p:sp>
      <p:sp>
        <p:nvSpPr>
          <p:cNvPr id="15" name="TextBox 14"/>
          <p:cNvSpPr txBox="1"/>
          <p:nvPr/>
        </p:nvSpPr>
        <p:spPr>
          <a:xfrm>
            <a:off x="8778240" y="1508760"/>
            <a:ext cx="3017520" cy="566928"/>
          </a:xfrm>
          <a:prstGeom prst="rect">
            <a:avLst/>
          </a:prstGeom>
          <a:noFill/>
        </p:spPr>
        <p:txBody>
          <a:bodyPr wrap="square">
            <a:spAutoFit/>
          </a:bodyPr>
          <a:lstStyle/>
          <a:p>
            <a:pPr algn="l"/>
            <a:r>
              <a:rPr sz="1400" b="0" i="0">
                <a:solidFill>
                  <a:srgbClr val="E8EEF8"/>
                </a:solidFill>
              </a:rPr>
              <a:t>🔐  Autenticación SSO SUNAT</a:t>
            </a:r>
          </a:p>
        </p:txBody>
      </p:sp>
      <p:sp>
        <p:nvSpPr>
          <p:cNvPr id="16" name="TextBox 15"/>
          <p:cNvSpPr txBox="1"/>
          <p:nvPr/>
        </p:nvSpPr>
        <p:spPr>
          <a:xfrm>
            <a:off x="8778240" y="2148840"/>
            <a:ext cx="3017520" cy="566928"/>
          </a:xfrm>
          <a:prstGeom prst="rect">
            <a:avLst/>
          </a:prstGeom>
          <a:noFill/>
        </p:spPr>
        <p:txBody>
          <a:bodyPr wrap="square">
            <a:spAutoFit/>
          </a:bodyPr>
          <a:lstStyle/>
          <a:p>
            <a:pPr algn="l"/>
            <a:r>
              <a:rPr sz="1400" b="0" i="0">
                <a:solidFill>
                  <a:srgbClr val="E8EEF8"/>
                </a:solidFill>
              </a:rPr>
              <a:t>📱  App móvil React Native</a:t>
            </a:r>
          </a:p>
        </p:txBody>
      </p:sp>
      <p:sp>
        <p:nvSpPr>
          <p:cNvPr id="17" name="TextBox 16"/>
          <p:cNvSpPr txBox="1"/>
          <p:nvPr/>
        </p:nvSpPr>
        <p:spPr>
          <a:xfrm>
            <a:off x="8778240" y="2788920"/>
            <a:ext cx="3017520" cy="566928"/>
          </a:xfrm>
          <a:prstGeom prst="rect">
            <a:avLst/>
          </a:prstGeom>
          <a:noFill/>
        </p:spPr>
        <p:txBody>
          <a:bodyPr wrap="square">
            <a:spAutoFit/>
          </a:bodyPr>
          <a:lstStyle/>
          <a:p>
            <a:pPr algn="l"/>
            <a:r>
              <a:rPr sz="1400" b="0" i="0">
                <a:solidFill>
                  <a:srgbClr val="E8EEF8"/>
                </a:solidFill>
              </a:rPr>
              <a:t>🗣️  Voz — respuestas en audio</a:t>
            </a:r>
          </a:p>
        </p:txBody>
      </p:sp>
      <p:sp>
        <p:nvSpPr>
          <p:cNvPr id="18" name="TextBox 17"/>
          <p:cNvSpPr txBox="1"/>
          <p:nvPr/>
        </p:nvSpPr>
        <p:spPr>
          <a:xfrm>
            <a:off x="8778240" y="3429000"/>
            <a:ext cx="3017520" cy="566928"/>
          </a:xfrm>
          <a:prstGeom prst="rect">
            <a:avLst/>
          </a:prstGeom>
          <a:noFill/>
        </p:spPr>
        <p:txBody>
          <a:bodyPr wrap="square">
            <a:spAutoFit/>
          </a:bodyPr>
          <a:lstStyle/>
          <a:p>
            <a:pPr algn="l"/>
            <a:r>
              <a:rPr sz="1400" b="0" i="0">
                <a:solidFill>
                  <a:srgbClr val="E8EEF8"/>
                </a:solidFill>
              </a:rPr>
              <a:t>🌎  Soporte multiidioma (inglés)</a:t>
            </a:r>
          </a:p>
        </p:txBody>
      </p:sp>
      <p:sp>
        <p:nvSpPr>
          <p:cNvPr id="19" name="TextBox 18"/>
          <p:cNvSpPr txBox="1"/>
          <p:nvPr/>
        </p:nvSpPr>
        <p:spPr>
          <a:xfrm>
            <a:off x="8778240" y="4069080"/>
            <a:ext cx="3017520" cy="566928"/>
          </a:xfrm>
          <a:prstGeom prst="rect">
            <a:avLst/>
          </a:prstGeom>
          <a:noFill/>
        </p:spPr>
        <p:txBody>
          <a:bodyPr wrap="square">
            <a:spAutoFit/>
          </a:bodyPr>
          <a:lstStyle/>
          <a:p>
            <a:pPr algn="l"/>
            <a:r>
              <a:rPr sz="1400" b="0" i="0">
                <a:solidFill>
                  <a:srgbClr val="E8EEF8"/>
                </a:solidFill>
              </a:rPr>
              <a:t>📈  Dashboard analítico de consultas</a:t>
            </a:r>
          </a:p>
        </p:txBody>
      </p:sp>
      <p:sp>
        <p:nvSpPr>
          <p:cNvPr id="20" name="TextBox 19"/>
          <p:cNvSpPr txBox="1"/>
          <p:nvPr/>
        </p:nvSpPr>
        <p:spPr>
          <a:xfrm>
            <a:off x="8778240" y="4709160"/>
            <a:ext cx="3017520" cy="566928"/>
          </a:xfrm>
          <a:prstGeom prst="rect">
            <a:avLst/>
          </a:prstGeom>
          <a:noFill/>
        </p:spPr>
        <p:txBody>
          <a:bodyPr wrap="square">
            <a:spAutoFit/>
          </a:bodyPr>
          <a:lstStyle/>
          <a:p>
            <a:pPr algn="l"/>
            <a:r>
              <a:rPr sz="1400" b="0" i="0">
                <a:solidFill>
                  <a:srgbClr val="E8EEF8"/>
                </a:solidFill>
              </a:rPr>
              <a:t>🤖  Modelos fine-tuned en aduanas</a:t>
            </a:r>
          </a:p>
        </p:txBody>
      </p:sp>
      <p:sp>
        <p:nvSpPr>
          <p:cNvPr id="21" name="Rectangle 20"/>
          <p:cNvSpPr/>
          <p:nvPr/>
        </p:nvSpPr>
        <p:spPr>
          <a:xfrm>
            <a:off x="457200" y="6355080"/>
            <a:ext cx="11731752" cy="502920"/>
          </a:xfrm>
          <a:prstGeom prst="rect">
            <a:avLst/>
          </a:prstGeom>
          <a:solidFill>
            <a:srgbClr val="102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382512"/>
            <a:ext cx="11247120" cy="411480"/>
          </a:xfrm>
          <a:prstGeom prst="rect">
            <a:avLst/>
          </a:prstGeom>
          <a:noFill/>
        </p:spPr>
        <p:txBody>
          <a:bodyPr wrap="square">
            <a:spAutoFit/>
          </a:bodyPr>
          <a:lstStyle/>
          <a:p>
            <a:pPr algn="ctr"/>
            <a:r>
              <a:rPr sz="1300" b="0" i="0">
                <a:solidFill>
                  <a:srgbClr val="D4A017"/>
                </a:solidFill>
              </a:rPr>
              <a:t>github.com/jcancharigu/aduana-gpt   ·   jcancharigu@gmail.com   ·   Stack 100% gratuito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